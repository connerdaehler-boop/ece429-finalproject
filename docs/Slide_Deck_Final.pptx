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62" r:id="rId5"/>
    <p:sldId id="265" r:id="rId6"/>
    <p:sldId id="259" r:id="rId7"/>
    <p:sldId id="266" r:id="rId8"/>
    <p:sldId id="267" r:id="rId9"/>
    <p:sldId id="269" r:id="rId10"/>
    <p:sldId id="268"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91C"/>
    <a:srgbClr val="7B61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376" autoAdjust="0"/>
    <p:restoredTop sz="94610"/>
  </p:normalViewPr>
  <p:slideViewPr>
    <p:cSldViewPr snapToGrid="0" snapToObjects="1">
      <p:cViewPr>
        <p:scale>
          <a:sx n="150" d="100"/>
          <a:sy n="150" d="100"/>
        </p:scale>
        <p:origin x="120"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985560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I'll be presenting my Tiny Tapeout project: a scan-based procedural fragment shader implemented as a real ASIC. This is a hardware-only image processing chip — no CPU involved. I'll walk through the motivation, architecture, results, and lessons learned. Let's get started.</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goal was to design a procedural graphics chip that applies lighting and shading to an image entirely in hardware. We used Tiny Tapeout, which is a community chip-sharing platform that makes real silicon tape-outs affordable. The design is written in Verilog, with an 8-bit pixel input, 8-bit pixel output, and hardware pins for mode, freeze, and invert control. No software, no CPU.</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full simulation pipeline. We start with a synthetic 256x256 test image generated in Python, then drive that through a cocotb testbench which controls the clock, reset, mode, and pixel inputs. The top-level Verilog module routes control signals to the procedural graphics core, which computes per-pixel distance fields and lighting math. The output is saved as PNG frames for each mode. The chip runs at 10 MHz and fits within a 1x2 Tiny Tapeout tile.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you can see the actual synthesized Sky130A layout output from the design. These images represent the physical chip layout produced after running the Verilog through the OpenLane toolchain targeting the SkyWater 130nm process. This is what gets sent off for fabrication on a real silicon die.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architecture of the graphics core. The design is largely combinational — meaning most computations happen in a single clock cycle without requiring registers or state machines. The per-pixel lighting math computes distance fields from the light source using only integer arithmetic, keeping the logic compact and fast. The 10 MHz clock is more than sufficient given the combinational nature of the pipeline.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four output modes running on the synthetic test image. Mode 0 applies a top-down lighting effect. Mode 1 shifts the light source to the bottom-right. Mode 2 applies an extreme spotlight effect with a very tight falloff. Mode 3 centers the light source in the middle of the image. Each mode is controlled purely through the hardware pins — no firmware required.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further validate the design, we also tested it on a real photo input rather than the synthetic scene. The left image shows the original color input, the center shows the greyscale conversion fed into the chip, and the right shows the Mode 0 output with the top-down lighting applied. The hardware processes real image data correctly, confirming the design works beyond just synthetic test cases.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be honest about the limitations. First, the design only operates in 2D — it uses X and Y pixel coordinates and cannot handle isometric or 3D geometry. Second, there is no ray tracing; shadows are not simulated. Third, the shading is purely a function of distance from the light source and does not account for the shape or surface normal of objects. These are expected constraints of a compact ASIC targeting a single Tiny Tapeout tile.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we successfully implemented a real-time procedural lighting engine in Verilog that will tape out on real silicon. We achieved multiple hardware-controlled lighting modes with no CPU involvement. The design proves that integer arithmetic alone is sufficient for compact ASIC-based procedural graphics. And while it doesn't implement a full GPU pipeline, it successfully mimics key fragment-stage behaviors like per-pixel lighting and procedural shading.</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concludes the presentation. Thank you for your time. I'm happy to take any questions about the design, the Tiny Tapeout platform, or the implementation details. You can also find the full source code and documentation on my GitHub at connerdaehler-boop.</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microsoft.com/office/2007/relationships/hdphoto" Target="../media/hdphoto1.wdp"/><Relationship Id="rId9"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D"/>
        </a:solidFill>
        <a:effectLst/>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12700">
            <a:solidFill>
              <a:srgbClr val="1A1A2E"/>
            </a:solidFill>
            <a:prstDash val="solid"/>
          </a:ln>
        </p:spPr>
        <p:txBody>
          <a:bodyPr/>
          <a:lstStyle/>
          <a:p>
            <a:endParaRPr lang="en-US"/>
          </a:p>
        </p:txBody>
      </p:sp>
      <p:sp>
        <p:nvSpPr>
          <p:cNvPr id="3" name="Shape 1"/>
          <p:cNvSpPr/>
          <p:nvPr/>
        </p:nvSpPr>
        <p:spPr>
          <a:xfrm>
            <a:off x="914400" y="0"/>
            <a:ext cx="0" cy="5143500"/>
          </a:xfrm>
          <a:prstGeom prst="line">
            <a:avLst/>
          </a:prstGeom>
          <a:noFill/>
          <a:ln w="12700">
            <a:solidFill>
              <a:srgbClr val="1A1A2E"/>
            </a:solidFill>
            <a:prstDash val="solid"/>
          </a:ln>
        </p:spPr>
        <p:txBody>
          <a:bodyPr/>
          <a:lstStyle/>
          <a:p>
            <a:endParaRPr lang="en-US"/>
          </a:p>
        </p:txBody>
      </p:sp>
      <p:sp>
        <p:nvSpPr>
          <p:cNvPr id="4" name="Shape 2"/>
          <p:cNvSpPr/>
          <p:nvPr/>
        </p:nvSpPr>
        <p:spPr>
          <a:xfrm>
            <a:off x="1828800" y="0"/>
            <a:ext cx="0" cy="5143500"/>
          </a:xfrm>
          <a:prstGeom prst="line">
            <a:avLst/>
          </a:prstGeom>
          <a:noFill/>
          <a:ln w="12700">
            <a:solidFill>
              <a:srgbClr val="1A1A2E"/>
            </a:solidFill>
            <a:prstDash val="solid"/>
          </a:ln>
        </p:spPr>
        <p:txBody>
          <a:bodyPr/>
          <a:lstStyle/>
          <a:p>
            <a:endParaRPr lang="en-US"/>
          </a:p>
        </p:txBody>
      </p:sp>
      <p:sp>
        <p:nvSpPr>
          <p:cNvPr id="5" name="Shape 3"/>
          <p:cNvSpPr/>
          <p:nvPr/>
        </p:nvSpPr>
        <p:spPr>
          <a:xfrm>
            <a:off x="2743200" y="0"/>
            <a:ext cx="0" cy="5143500"/>
          </a:xfrm>
          <a:prstGeom prst="line">
            <a:avLst/>
          </a:prstGeom>
          <a:noFill/>
          <a:ln w="12700">
            <a:solidFill>
              <a:srgbClr val="1A1A2E"/>
            </a:solidFill>
            <a:prstDash val="solid"/>
          </a:ln>
        </p:spPr>
        <p:txBody>
          <a:bodyPr/>
          <a:lstStyle/>
          <a:p>
            <a:endParaRPr lang="en-US"/>
          </a:p>
        </p:txBody>
      </p:sp>
      <p:sp>
        <p:nvSpPr>
          <p:cNvPr id="6" name="Shape 4"/>
          <p:cNvSpPr/>
          <p:nvPr/>
        </p:nvSpPr>
        <p:spPr>
          <a:xfrm>
            <a:off x="3657600" y="0"/>
            <a:ext cx="0" cy="5143500"/>
          </a:xfrm>
          <a:prstGeom prst="line">
            <a:avLst/>
          </a:prstGeom>
          <a:noFill/>
          <a:ln w="12700">
            <a:solidFill>
              <a:srgbClr val="1A1A2E"/>
            </a:solidFill>
            <a:prstDash val="solid"/>
          </a:ln>
        </p:spPr>
        <p:txBody>
          <a:bodyPr/>
          <a:lstStyle/>
          <a:p>
            <a:endParaRPr lang="en-US"/>
          </a:p>
        </p:txBody>
      </p:sp>
      <p:sp>
        <p:nvSpPr>
          <p:cNvPr id="7" name="Shape 5"/>
          <p:cNvSpPr/>
          <p:nvPr/>
        </p:nvSpPr>
        <p:spPr>
          <a:xfrm>
            <a:off x="4572000" y="0"/>
            <a:ext cx="0" cy="5143500"/>
          </a:xfrm>
          <a:prstGeom prst="line">
            <a:avLst/>
          </a:prstGeom>
          <a:noFill/>
          <a:ln w="12700">
            <a:solidFill>
              <a:srgbClr val="1A1A2E"/>
            </a:solidFill>
            <a:prstDash val="solid"/>
          </a:ln>
        </p:spPr>
        <p:txBody>
          <a:bodyPr/>
          <a:lstStyle/>
          <a:p>
            <a:endParaRPr lang="en-US"/>
          </a:p>
        </p:txBody>
      </p:sp>
      <p:sp>
        <p:nvSpPr>
          <p:cNvPr id="8" name="Shape 6"/>
          <p:cNvSpPr/>
          <p:nvPr/>
        </p:nvSpPr>
        <p:spPr>
          <a:xfrm>
            <a:off x="5486400" y="0"/>
            <a:ext cx="0" cy="5143500"/>
          </a:xfrm>
          <a:prstGeom prst="line">
            <a:avLst/>
          </a:prstGeom>
          <a:noFill/>
          <a:ln w="12700">
            <a:solidFill>
              <a:srgbClr val="1A1A2E"/>
            </a:solidFill>
            <a:prstDash val="solid"/>
          </a:ln>
        </p:spPr>
        <p:txBody>
          <a:bodyPr/>
          <a:lstStyle/>
          <a:p>
            <a:endParaRPr lang="en-US"/>
          </a:p>
        </p:txBody>
      </p:sp>
      <p:sp>
        <p:nvSpPr>
          <p:cNvPr id="9" name="Shape 7"/>
          <p:cNvSpPr/>
          <p:nvPr/>
        </p:nvSpPr>
        <p:spPr>
          <a:xfrm>
            <a:off x="6400800" y="0"/>
            <a:ext cx="0" cy="5143500"/>
          </a:xfrm>
          <a:prstGeom prst="line">
            <a:avLst/>
          </a:prstGeom>
          <a:noFill/>
          <a:ln w="12700">
            <a:solidFill>
              <a:srgbClr val="1A1A2E"/>
            </a:solidFill>
            <a:prstDash val="solid"/>
          </a:ln>
        </p:spPr>
        <p:txBody>
          <a:bodyPr/>
          <a:lstStyle/>
          <a:p>
            <a:endParaRPr lang="en-US"/>
          </a:p>
        </p:txBody>
      </p:sp>
      <p:sp>
        <p:nvSpPr>
          <p:cNvPr id="10" name="Shape 8"/>
          <p:cNvSpPr/>
          <p:nvPr/>
        </p:nvSpPr>
        <p:spPr>
          <a:xfrm>
            <a:off x="7315200" y="0"/>
            <a:ext cx="0" cy="5143500"/>
          </a:xfrm>
          <a:prstGeom prst="line">
            <a:avLst/>
          </a:prstGeom>
          <a:noFill/>
          <a:ln w="12700">
            <a:solidFill>
              <a:srgbClr val="1A1A2E"/>
            </a:solidFill>
            <a:prstDash val="solid"/>
          </a:ln>
        </p:spPr>
        <p:txBody>
          <a:bodyPr/>
          <a:lstStyle/>
          <a:p>
            <a:endParaRPr lang="en-US"/>
          </a:p>
        </p:txBody>
      </p:sp>
      <p:sp>
        <p:nvSpPr>
          <p:cNvPr id="11" name="Shape 9"/>
          <p:cNvSpPr/>
          <p:nvPr/>
        </p:nvSpPr>
        <p:spPr>
          <a:xfrm>
            <a:off x="8229600" y="0"/>
            <a:ext cx="0" cy="5143500"/>
          </a:xfrm>
          <a:prstGeom prst="line">
            <a:avLst/>
          </a:prstGeom>
          <a:noFill/>
          <a:ln w="12700">
            <a:solidFill>
              <a:srgbClr val="1A1A2E"/>
            </a:solidFill>
            <a:prstDash val="solid"/>
          </a:ln>
        </p:spPr>
        <p:txBody>
          <a:bodyPr/>
          <a:lstStyle/>
          <a:p>
            <a:endParaRPr lang="en-US"/>
          </a:p>
        </p:txBody>
      </p:sp>
      <p:sp>
        <p:nvSpPr>
          <p:cNvPr id="12" name="Shape 10"/>
          <p:cNvSpPr/>
          <p:nvPr/>
        </p:nvSpPr>
        <p:spPr>
          <a:xfrm>
            <a:off x="0" y="0"/>
            <a:ext cx="109728" cy="5143500"/>
          </a:xfrm>
          <a:prstGeom prst="rect">
            <a:avLst/>
          </a:prstGeom>
          <a:solidFill>
            <a:srgbClr val="00C8FF"/>
          </a:solidFill>
          <a:ln w="12700">
            <a:solidFill>
              <a:srgbClr val="00C8FF"/>
            </a:solidFill>
            <a:prstDash val="solid"/>
          </a:ln>
        </p:spPr>
        <p:txBody>
          <a:bodyPr/>
          <a:lstStyle/>
          <a:p>
            <a:endParaRPr lang="en-US"/>
          </a:p>
        </p:txBody>
      </p:sp>
      <p:sp>
        <p:nvSpPr>
          <p:cNvPr id="13" name="Text 11"/>
          <p:cNvSpPr/>
          <p:nvPr/>
        </p:nvSpPr>
        <p:spPr>
          <a:xfrm>
            <a:off x="457200" y="1003852"/>
            <a:ext cx="8229600" cy="1465028"/>
          </a:xfrm>
          <a:prstGeom prst="rect">
            <a:avLst/>
          </a:prstGeom>
          <a:noFill/>
          <a:ln/>
        </p:spPr>
        <p:txBody>
          <a:bodyPr wrap="square" lIns="0" tIns="0" rIns="0" bIns="0" rtlCol="0" anchor="ctr"/>
          <a:lstStyle/>
          <a:p>
            <a:pPr marL="0" indent="0" algn="ctr">
              <a:buNone/>
            </a:pPr>
            <a:r>
              <a:rPr lang="en-US" sz="5200" b="1" dirty="0">
                <a:solidFill>
                  <a:srgbClr val="FFFFFF"/>
                </a:solidFill>
                <a:latin typeface="Calibri" pitchFamily="34" charset="0"/>
                <a:ea typeface="Calibri" pitchFamily="34" charset="-122"/>
                <a:cs typeface="Calibri" pitchFamily="34" charset="-120"/>
              </a:rPr>
              <a:t>Scan-Based Procedural Fragment Shader ASIC</a:t>
            </a:r>
            <a:endParaRPr lang="en-US" sz="5200" dirty="0"/>
          </a:p>
        </p:txBody>
      </p:sp>
      <p:sp>
        <p:nvSpPr>
          <p:cNvPr id="14" name="Text 12"/>
          <p:cNvSpPr/>
          <p:nvPr/>
        </p:nvSpPr>
        <p:spPr>
          <a:xfrm>
            <a:off x="457200" y="2560320"/>
            <a:ext cx="8229600" cy="548640"/>
          </a:xfrm>
          <a:prstGeom prst="rect">
            <a:avLst/>
          </a:prstGeom>
          <a:noFill/>
          <a:ln/>
        </p:spPr>
        <p:txBody>
          <a:bodyPr wrap="square" lIns="0" tIns="0" rIns="0" bIns="0" rtlCol="0" anchor="ctr"/>
          <a:lstStyle/>
          <a:p>
            <a:pPr marL="0" indent="0" algn="ctr">
              <a:buNone/>
            </a:pPr>
            <a:r>
              <a:rPr lang="en-US" sz="2000" dirty="0">
                <a:solidFill>
                  <a:srgbClr val="00C8FF"/>
                </a:solidFill>
                <a:latin typeface="Calibri" pitchFamily="34" charset="0"/>
                <a:ea typeface="Calibri" pitchFamily="34" charset="-122"/>
                <a:cs typeface="Calibri" pitchFamily="34" charset="-120"/>
              </a:rPr>
              <a:t>Image Processing with Tiny </a:t>
            </a:r>
            <a:r>
              <a:rPr lang="en-US" sz="2000" dirty="0" err="1">
                <a:solidFill>
                  <a:srgbClr val="00C8FF"/>
                </a:solidFill>
                <a:latin typeface="Calibri" pitchFamily="34" charset="0"/>
                <a:ea typeface="Calibri" pitchFamily="34" charset="-122"/>
                <a:cs typeface="Calibri" pitchFamily="34" charset="-120"/>
              </a:rPr>
              <a:t>Tapeout</a:t>
            </a:r>
            <a:endParaRPr lang="en-US" sz="2000" dirty="0"/>
          </a:p>
        </p:txBody>
      </p:sp>
      <p:sp>
        <p:nvSpPr>
          <p:cNvPr id="15" name="Text 13"/>
          <p:cNvSpPr/>
          <p:nvPr/>
        </p:nvSpPr>
        <p:spPr>
          <a:xfrm>
            <a:off x="457200" y="4297680"/>
            <a:ext cx="8229600" cy="365760"/>
          </a:xfrm>
          <a:prstGeom prst="rect">
            <a:avLst/>
          </a:prstGeom>
          <a:noFill/>
          <a:ln/>
        </p:spPr>
        <p:txBody>
          <a:bodyPr wrap="square" lIns="0" tIns="0" rIns="0" bIns="0" rtlCol="0" anchor="ctr"/>
          <a:lstStyle/>
          <a:p>
            <a:pPr marL="0" indent="0" algn="ctr">
              <a:buNone/>
            </a:pPr>
            <a:r>
              <a:rPr lang="en-US" sz="1300" dirty="0">
                <a:solidFill>
                  <a:srgbClr val="888888"/>
                </a:solidFill>
                <a:latin typeface="Calibri" pitchFamily="34" charset="0"/>
                <a:ea typeface="Calibri" pitchFamily="34" charset="-122"/>
                <a:cs typeface="Calibri" pitchFamily="34" charset="-120"/>
              </a:rPr>
              <a:t>Conner Daehler  ·  ECE 429  ·  Tiny Tapeout</a:t>
            </a:r>
            <a:endParaRPr lang="en-US" sz="1300" dirty="0"/>
          </a:p>
        </p:txBody>
      </p:sp>
      <p:pic>
        <p:nvPicPr>
          <p:cNvPr id="16" name="Picture 15">
            <a:extLst>
              <a:ext uri="{FF2B5EF4-FFF2-40B4-BE49-F238E27FC236}">
                <a16:creationId xmlns:a16="http://schemas.microsoft.com/office/drawing/2014/main" id="{BC6B61AA-6523-45EA-B2F7-2A7F14C31D05}"/>
              </a:ext>
            </a:extLst>
          </p:cNvPr>
          <p:cNvPicPr>
            <a:picLocks noChangeAspect="1"/>
          </p:cNvPicPr>
          <p:nvPr/>
        </p:nvPicPr>
        <p:blipFill>
          <a:blip r:embed="rId3">
            <a:alphaModFix amt="17000"/>
            <a:extLst>
              <a:ext uri="{BEBA8EAE-BF5A-486C-A8C5-ECC9F3942E4B}">
                <a14:imgProps xmlns:a14="http://schemas.microsoft.com/office/drawing/2010/main">
                  <a14:imgLayer r:embed="rId4">
                    <a14:imgEffect>
                      <a14:sharpenSoften amount="-1000"/>
                    </a14:imgEffect>
                  </a14:imgLayer>
                </a14:imgProps>
              </a:ext>
            </a:extLst>
          </a:blip>
          <a:stretch>
            <a:fillRect/>
          </a:stretch>
        </p:blipFill>
        <p:spPr>
          <a:xfrm>
            <a:off x="0" y="9806"/>
            <a:ext cx="9144000" cy="5143499"/>
          </a:xfrm>
          <a:prstGeom prst="rect">
            <a:avLst/>
          </a:prstGeom>
          <a:effectLst>
            <a:reflection endPos="0" dist="50800" dir="5400000" sy="-100000" algn="bl" rotWithShape="0"/>
          </a:effectLst>
        </p:spPr>
      </p:pic>
      <p:sp>
        <p:nvSpPr>
          <p:cNvPr id="900" name="Header_1"/>
          <p:cNvSpPr txBox="1"/>
          <p:nvPr/>
        </p:nvSpPr>
        <p:spPr>
          <a:xfrm>
            <a:off x="3200400" y="76200"/>
            <a:ext cx="5715600" cy="304800"/>
          </a:xfrm>
          <a:prstGeom prst="rect">
            <a:avLst/>
          </a:prstGeom>
          <a:noFill/>
        </p:spPr>
        <p:txBody>
          <a:bodyPr wrap="square" lIns="0" tIns="0" rIns="0" bIns="0" rtlCol="0" anchor="ctr"/>
          <a:lstStyle/>
          <a:p>
            <a:pPr marL="0" indent="0" algn="r">
              <a:buNone/>
            </a:pPr>
            <a:r>
              <a:rPr lang="en-US" sz="900" dirty="0">
                <a:solidFill>
                  <a:srgbClr val="888888"/>
                </a:solidFill>
                <a:latin typeface="Calibri" pitchFamily="34" charset="0"/>
              </a:rPr>
              <a:t>Scan-Based Procedural Fragment Shader ASIC</a:t>
            </a:r>
            <a:endParaRPr lang="en-US" sz="900" dirty="0"/>
          </a:p>
        </p:txBody>
      </p:sp>
      <p:sp>
        <p:nvSpPr>
          <p:cNvPr id="901" name="SlideNum_1"/>
          <p:cNvSpPr txBox="1"/>
          <p:nvPr/>
        </p:nvSpPr>
        <p:spPr>
          <a:xfrm>
            <a:off x="228600" y="76200"/>
            <a:ext cx="914400" cy="304800"/>
          </a:xfrm>
          <a:prstGeom prst="rect">
            <a:avLst/>
          </a:prstGeom>
          <a:noFill/>
        </p:spPr>
        <p:txBody>
          <a:bodyPr wrap="square" lIns="0" tIns="0" rIns="0" bIns="0" rtlCol="0" anchor="ctr"/>
          <a:lstStyle/>
          <a:p>
            <a:pPr marL="0" indent="0" algn="l">
              <a:buNone/>
            </a:pPr>
            <a:r>
              <a:rPr lang="en-US" sz="900" dirty="0">
                <a:solidFill>
                  <a:srgbClr val="888888"/>
                </a:solidFill>
                <a:latin typeface="Calibri" pitchFamily="34" charset="0"/>
              </a:rPr>
              <a:t>1 / 10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81818"/>
        </a:solidFill>
        <a:effectLst/>
      </p:bgPr>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2E0A6B39-7527-4C00-96F0-AAA6619286AB}"/>
              </a:ext>
            </a:extLst>
          </p:cNvPr>
          <p:cNvPicPr>
            <a:picLocks noChangeAspect="1"/>
          </p:cNvPicPr>
          <p:nvPr/>
        </p:nvPicPr>
        <p:blipFill>
          <a:blip r:embed="rId3">
            <a:alphaModFix amt="17000"/>
          </a:blip>
          <a:stretch>
            <a:fillRect/>
          </a:stretch>
        </p:blipFill>
        <p:spPr>
          <a:xfrm>
            <a:off x="0" y="13874"/>
            <a:ext cx="9144000" cy="5139432"/>
          </a:xfrm>
          <a:prstGeom prst="rect">
            <a:avLst/>
          </a:prstGeom>
          <a:effectLst>
            <a:reflection endPos="0" dist="50800" dir="5400000" sy="-100000" algn="bl" rotWithShape="0"/>
          </a:effectLst>
        </p:spPr>
      </p:pic>
      <p:sp>
        <p:nvSpPr>
          <p:cNvPr id="2" name="Text 0"/>
          <p:cNvSpPr/>
          <p:nvPr/>
        </p:nvSpPr>
        <p:spPr>
          <a:xfrm>
            <a:off x="351906" y="232758"/>
            <a:ext cx="8412480" cy="64008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Overview &amp; Purpose</a:t>
            </a:r>
            <a:endParaRPr lang="en-US" sz="3600" dirty="0"/>
          </a:p>
        </p:txBody>
      </p:sp>
      <p:sp>
        <p:nvSpPr>
          <p:cNvPr id="4" name="Shape 2"/>
          <p:cNvSpPr/>
          <p:nvPr/>
        </p:nvSpPr>
        <p:spPr>
          <a:xfrm>
            <a:off x="320040" y="1188720"/>
            <a:ext cx="2697480" cy="3291840"/>
          </a:xfrm>
          <a:prstGeom prst="rect">
            <a:avLst/>
          </a:prstGeom>
          <a:solidFill>
            <a:srgbClr val="1E1E1E"/>
          </a:solidFill>
          <a:ln w="12700">
            <a:solidFill>
              <a:srgbClr val="2A2A2A"/>
            </a:solidFill>
            <a:prstDash val="solid"/>
          </a:ln>
          <a:effectLst>
            <a:outerShdw blurRad="101600" dist="38100" dir="8100000" algn="bl" rotWithShape="0">
              <a:srgbClr val="000000">
                <a:alpha val="40000"/>
              </a:srgbClr>
            </a:outerShdw>
          </a:effectLst>
        </p:spPr>
        <p:txBody>
          <a:bodyPr/>
          <a:lstStyle/>
          <a:p>
            <a:endParaRPr lang="en-US"/>
          </a:p>
        </p:txBody>
      </p:sp>
      <p:sp>
        <p:nvSpPr>
          <p:cNvPr id="5" name="Text 3"/>
          <p:cNvSpPr/>
          <p:nvPr/>
        </p:nvSpPr>
        <p:spPr>
          <a:xfrm>
            <a:off x="457200" y="1325880"/>
            <a:ext cx="2423160" cy="502920"/>
          </a:xfrm>
          <a:prstGeom prst="rect">
            <a:avLst/>
          </a:prstGeom>
          <a:noFill/>
          <a:ln/>
        </p:spPr>
        <p:txBody>
          <a:bodyPr wrap="square" lIns="0" tIns="0" rIns="0" bIns="0" rtlCol="0" anchor="ctr"/>
          <a:lstStyle/>
          <a:p>
            <a:pPr marL="0" indent="0">
              <a:buNone/>
            </a:pPr>
            <a:r>
              <a:rPr lang="en-US" sz="1600" b="1" dirty="0">
                <a:solidFill>
                  <a:srgbClr val="00C8FF"/>
                </a:solidFill>
                <a:latin typeface="Calibri" pitchFamily="34" charset="0"/>
                <a:ea typeface="Calibri" pitchFamily="34" charset="-122"/>
                <a:cs typeface="Calibri" pitchFamily="34" charset="-120"/>
              </a:rPr>
              <a:t>🎯  Goal</a:t>
            </a:r>
            <a:endParaRPr lang="en-US" sz="1600" dirty="0"/>
          </a:p>
        </p:txBody>
      </p:sp>
      <p:sp>
        <p:nvSpPr>
          <p:cNvPr id="6" name="Text 4"/>
          <p:cNvSpPr/>
          <p:nvPr/>
        </p:nvSpPr>
        <p:spPr>
          <a:xfrm>
            <a:off x="457200" y="1874520"/>
            <a:ext cx="2423160" cy="2468880"/>
          </a:xfrm>
          <a:prstGeom prst="rect">
            <a:avLst/>
          </a:prstGeom>
          <a:noFill/>
          <a:ln/>
        </p:spPr>
        <p:txBody>
          <a:bodyPr wrap="square" lIns="0" tIns="0" rIns="0" bIns="0" rtlCol="0" anchor="t"/>
          <a:lstStyle/>
          <a:p>
            <a:pPr marL="0" indent="0" algn="l">
              <a:buNone/>
            </a:pPr>
            <a:r>
              <a:rPr lang="en-US" sz="1300" dirty="0">
                <a:solidFill>
                  <a:srgbClr val="CCCCCC"/>
                </a:solidFill>
                <a:latin typeface="Calibri" pitchFamily="34" charset="0"/>
                <a:ea typeface="Calibri" pitchFamily="34" charset="-122"/>
                <a:cs typeface="Calibri" pitchFamily="34" charset="-120"/>
              </a:rPr>
              <a:t>Design a procedural graphics ASIC that applies image processing to an input image, without a CPU (only hardware).</a:t>
            </a:r>
            <a:endParaRPr lang="en-US" sz="1300" dirty="0"/>
          </a:p>
        </p:txBody>
      </p:sp>
      <p:sp>
        <p:nvSpPr>
          <p:cNvPr id="7" name="Shape 5"/>
          <p:cNvSpPr/>
          <p:nvPr/>
        </p:nvSpPr>
        <p:spPr>
          <a:xfrm>
            <a:off x="3200400" y="1188720"/>
            <a:ext cx="2697480" cy="3291840"/>
          </a:xfrm>
          <a:prstGeom prst="rect">
            <a:avLst/>
          </a:prstGeom>
          <a:solidFill>
            <a:srgbClr val="1E1E1E"/>
          </a:solidFill>
          <a:ln w="12700">
            <a:solidFill>
              <a:srgbClr val="2A2A2A"/>
            </a:solidFill>
            <a:prstDash val="solid"/>
          </a:ln>
          <a:effectLst>
            <a:outerShdw blurRad="101600" dist="38100" dir="8100000" algn="bl" rotWithShape="0">
              <a:srgbClr val="000000">
                <a:alpha val="40000"/>
              </a:srgbClr>
            </a:outerShdw>
          </a:effectLst>
        </p:spPr>
        <p:txBody>
          <a:bodyPr/>
          <a:lstStyle/>
          <a:p>
            <a:endParaRPr lang="en-US"/>
          </a:p>
        </p:txBody>
      </p:sp>
      <p:sp>
        <p:nvSpPr>
          <p:cNvPr id="8" name="Text 6"/>
          <p:cNvSpPr/>
          <p:nvPr/>
        </p:nvSpPr>
        <p:spPr>
          <a:xfrm>
            <a:off x="3337560" y="1325880"/>
            <a:ext cx="2423160" cy="502920"/>
          </a:xfrm>
          <a:prstGeom prst="rect">
            <a:avLst/>
          </a:prstGeom>
          <a:noFill/>
          <a:ln/>
        </p:spPr>
        <p:txBody>
          <a:bodyPr wrap="square" lIns="0" tIns="0" rIns="0" bIns="0" rtlCol="0" anchor="ctr"/>
          <a:lstStyle/>
          <a:p>
            <a:pPr marL="0" indent="0">
              <a:buNone/>
            </a:pPr>
            <a:r>
              <a:rPr lang="en-US" sz="1600" b="1" dirty="0">
                <a:solidFill>
                  <a:srgbClr val="00C8FF"/>
                </a:solidFill>
                <a:latin typeface="Calibri" pitchFamily="34" charset="0"/>
                <a:ea typeface="Calibri" pitchFamily="34" charset="-122"/>
                <a:cs typeface="Calibri" pitchFamily="34" charset="-120"/>
              </a:rPr>
              <a:t>⚡  Platform</a:t>
            </a:r>
            <a:endParaRPr lang="en-US" sz="1600" dirty="0"/>
          </a:p>
        </p:txBody>
      </p:sp>
      <p:sp>
        <p:nvSpPr>
          <p:cNvPr id="9" name="Text 7"/>
          <p:cNvSpPr/>
          <p:nvPr/>
        </p:nvSpPr>
        <p:spPr>
          <a:xfrm>
            <a:off x="3337560" y="1874520"/>
            <a:ext cx="2423160" cy="2468880"/>
          </a:xfrm>
          <a:prstGeom prst="rect">
            <a:avLst/>
          </a:prstGeom>
          <a:noFill/>
          <a:ln/>
        </p:spPr>
        <p:txBody>
          <a:bodyPr wrap="square" lIns="0" tIns="0" rIns="0" bIns="0" rtlCol="0" anchor="t"/>
          <a:lstStyle/>
          <a:p>
            <a:pPr marL="0" indent="0" algn="l">
              <a:buNone/>
            </a:pPr>
            <a:r>
              <a:rPr lang="en-US" sz="1300" dirty="0">
                <a:solidFill>
                  <a:srgbClr val="CCCCCC"/>
                </a:solidFill>
                <a:latin typeface="Calibri" pitchFamily="34" charset="0"/>
                <a:ea typeface="Calibri" pitchFamily="34" charset="-122"/>
                <a:cs typeface="Calibri" pitchFamily="34" charset="-120"/>
              </a:rPr>
              <a:t>Built for Tiny Tapeout — a community chip-sharing platform that lets people tape out real silicon designs affordably.</a:t>
            </a:r>
            <a:endParaRPr lang="en-US" sz="1300" dirty="0"/>
          </a:p>
        </p:txBody>
      </p:sp>
      <p:sp>
        <p:nvSpPr>
          <p:cNvPr id="10" name="Shape 8"/>
          <p:cNvSpPr/>
          <p:nvPr/>
        </p:nvSpPr>
        <p:spPr>
          <a:xfrm>
            <a:off x="6080760" y="1188720"/>
            <a:ext cx="2697480" cy="3291840"/>
          </a:xfrm>
          <a:prstGeom prst="rect">
            <a:avLst/>
          </a:prstGeom>
          <a:solidFill>
            <a:srgbClr val="1E1E1E"/>
          </a:solidFill>
          <a:ln w="12700">
            <a:solidFill>
              <a:srgbClr val="2A2A2A"/>
            </a:solidFill>
            <a:prstDash val="solid"/>
          </a:ln>
          <a:effectLst>
            <a:outerShdw blurRad="101600" dist="38100" dir="8100000" algn="bl" rotWithShape="0">
              <a:srgbClr val="000000">
                <a:alpha val="40000"/>
              </a:srgbClr>
            </a:outerShdw>
          </a:effectLst>
        </p:spPr>
        <p:txBody>
          <a:bodyPr/>
          <a:lstStyle/>
          <a:p>
            <a:endParaRPr lang="en-US"/>
          </a:p>
        </p:txBody>
      </p:sp>
      <p:sp>
        <p:nvSpPr>
          <p:cNvPr id="11" name="Text 9"/>
          <p:cNvSpPr/>
          <p:nvPr/>
        </p:nvSpPr>
        <p:spPr>
          <a:xfrm>
            <a:off x="6217920" y="1325880"/>
            <a:ext cx="2423160" cy="502920"/>
          </a:xfrm>
          <a:prstGeom prst="rect">
            <a:avLst/>
          </a:prstGeom>
          <a:noFill/>
          <a:ln/>
        </p:spPr>
        <p:txBody>
          <a:bodyPr wrap="square" lIns="0" tIns="0" rIns="0" bIns="0" rtlCol="0" anchor="ctr"/>
          <a:lstStyle/>
          <a:p>
            <a:pPr marL="0" indent="0">
              <a:buNone/>
            </a:pPr>
            <a:r>
              <a:rPr lang="en-US" sz="1600" b="1" dirty="0">
                <a:solidFill>
                  <a:srgbClr val="00C8FF"/>
                </a:solidFill>
                <a:latin typeface="Calibri" pitchFamily="34" charset="0"/>
                <a:ea typeface="Calibri" pitchFamily="34" charset="-122"/>
                <a:cs typeface="Calibri" pitchFamily="34" charset="-120"/>
              </a:rPr>
              <a:t>🔧  Approach</a:t>
            </a:r>
            <a:endParaRPr lang="en-US" sz="1600" dirty="0"/>
          </a:p>
        </p:txBody>
      </p:sp>
      <p:sp>
        <p:nvSpPr>
          <p:cNvPr id="12" name="Text 10"/>
          <p:cNvSpPr/>
          <p:nvPr/>
        </p:nvSpPr>
        <p:spPr>
          <a:xfrm>
            <a:off x="6217920" y="1874520"/>
            <a:ext cx="2423160" cy="2468880"/>
          </a:xfrm>
          <a:prstGeom prst="rect">
            <a:avLst/>
          </a:prstGeom>
          <a:noFill/>
          <a:ln/>
        </p:spPr>
        <p:txBody>
          <a:bodyPr wrap="square" lIns="0" tIns="0" rIns="0" bIns="0" rtlCol="0" anchor="t"/>
          <a:lstStyle/>
          <a:p>
            <a:pPr marL="0" indent="0" algn="l">
              <a:buNone/>
            </a:pPr>
            <a:r>
              <a:rPr lang="en-US" sz="1300" dirty="0">
                <a:solidFill>
                  <a:srgbClr val="CCCCCC"/>
                </a:solidFill>
                <a:latin typeface="Calibri" pitchFamily="34" charset="0"/>
                <a:ea typeface="Calibri" pitchFamily="34" charset="-122"/>
                <a:cs typeface="Calibri" pitchFamily="34" charset="-120"/>
              </a:rPr>
              <a:t>Implemented in Verilog. A top-level module exposes 8-bit pixel input and 8-bit pixel output, with control pins for mode, freeze, and invert.</a:t>
            </a:r>
            <a:endParaRPr lang="en-US" sz="1300" dirty="0"/>
          </a:p>
        </p:txBody>
      </p:sp>
      <p:sp>
        <p:nvSpPr>
          <p:cNvPr id="18" name="TextBox 17">
            <a:extLst>
              <a:ext uri="{FF2B5EF4-FFF2-40B4-BE49-F238E27FC236}">
                <a16:creationId xmlns:a16="http://schemas.microsoft.com/office/drawing/2014/main" id="{0B3893FD-6389-85B3-5F67-EE66F24E81E7}"/>
              </a:ext>
            </a:extLst>
          </p:cNvPr>
          <p:cNvSpPr txBox="1"/>
          <p:nvPr/>
        </p:nvSpPr>
        <p:spPr>
          <a:xfrm>
            <a:off x="2286000" y="2387084"/>
            <a:ext cx="4572000" cy="369332"/>
          </a:xfrm>
          <a:prstGeom prst="rect">
            <a:avLst/>
          </a:prstGeom>
          <a:noFill/>
        </p:spPr>
        <p:txBody>
          <a:bodyPr wrap="square">
            <a:spAutoFit/>
          </a:bodyPr>
          <a:lstStyle/>
          <a:p>
            <a:endParaRPr lang="en-US" dirty="0"/>
          </a:p>
        </p:txBody>
      </p:sp>
      <p:sp>
        <p:nvSpPr>
          <p:cNvPr id="900" name="Header_2"/>
          <p:cNvSpPr txBox="1"/>
          <p:nvPr/>
        </p:nvSpPr>
        <p:spPr>
          <a:xfrm>
            <a:off x="3200400" y="76200"/>
            <a:ext cx="5715600" cy="304800"/>
          </a:xfrm>
          <a:prstGeom prst="rect">
            <a:avLst/>
          </a:prstGeom>
          <a:noFill/>
        </p:spPr>
        <p:txBody>
          <a:bodyPr wrap="square" lIns="0" tIns="0" rIns="0" bIns="0" rtlCol="0" anchor="ctr"/>
          <a:lstStyle/>
          <a:p>
            <a:pPr marL="0" indent="0" algn="r">
              <a:buNone/>
            </a:pPr>
            <a:r>
              <a:rPr lang="en-US" sz="900" dirty="0">
                <a:solidFill>
                  <a:srgbClr val="888888"/>
                </a:solidFill>
                <a:latin typeface="Calibri" pitchFamily="34" charset="0"/>
              </a:rPr>
              <a:t>Scan-Based Procedural Fragment Shader ASIC</a:t>
            </a:r>
            <a:endParaRPr lang="en-US" sz="900" dirty="0"/>
          </a:p>
        </p:txBody>
      </p:sp>
      <p:sp>
        <p:nvSpPr>
          <p:cNvPr id="901" name="SlideNum_2"/>
          <p:cNvSpPr txBox="1"/>
          <p:nvPr/>
        </p:nvSpPr>
        <p:spPr>
          <a:xfrm>
            <a:off x="228600" y="76200"/>
            <a:ext cx="914400" cy="304800"/>
          </a:xfrm>
          <a:prstGeom prst="rect">
            <a:avLst/>
          </a:prstGeom>
          <a:noFill/>
        </p:spPr>
        <p:txBody>
          <a:bodyPr wrap="square" lIns="0" tIns="0" rIns="0" bIns="0" rtlCol="0" anchor="ctr"/>
          <a:lstStyle/>
          <a:p>
            <a:pPr marL="0" indent="0" algn="l">
              <a:buNone/>
            </a:pPr>
            <a:r>
              <a:rPr lang="en-US" sz="900" dirty="0">
                <a:solidFill>
                  <a:srgbClr val="888888"/>
                </a:solidFill>
                <a:latin typeface="Calibri" pitchFamily="34" charset="0"/>
              </a:rPr>
              <a:t>2 / 10</a:t>
            </a:r>
            <a:endParaRPr lang="en-US" sz="900" dirty="0"/>
          </a:p>
        </p:txBody>
      </p:sp>
      <p:cxnSp>
        <p:nvCxnSpPr>
          <p:cNvPr id="13" name="Straight Connector 12">
            <a:extLst>
              <a:ext uri="{FF2B5EF4-FFF2-40B4-BE49-F238E27FC236}">
                <a16:creationId xmlns:a16="http://schemas.microsoft.com/office/drawing/2014/main" id="{91EA769D-D332-6AA9-C827-FA0B87CD7455}"/>
              </a:ext>
            </a:extLst>
          </p:cNvPr>
          <p:cNvCxnSpPr/>
          <p:nvPr/>
        </p:nvCxnSpPr>
        <p:spPr>
          <a:xfrm>
            <a:off x="0" y="0"/>
            <a:ext cx="9260840" cy="13874"/>
          </a:xfrm>
          <a:prstGeom prst="line">
            <a:avLst/>
          </a:prstGeom>
          <a:ln w="76200">
            <a:solidFill>
              <a:srgbClr val="7B61FF"/>
            </a:solidFill>
          </a:ln>
        </p:spPr>
        <p:style>
          <a:lnRef idx="1">
            <a:schemeClr val="accent1"/>
          </a:lnRef>
          <a:fillRef idx="0">
            <a:schemeClr val="accent1"/>
          </a:fillRef>
          <a:effectRef idx="0">
            <a:schemeClr val="accent1"/>
          </a:effectRef>
          <a:fontRef idx="minor">
            <a:schemeClr val="tx1"/>
          </a:fontRef>
        </p:style>
      </p:cxnSp>
      <p:sp>
        <p:nvSpPr>
          <p:cNvPr id="950" name="TitleBar_2"/>
          <p:cNvSpPr/>
          <p:nvPr/>
        </p:nvSpPr>
        <p:spPr>
          <a:xfrm>
            <a:off x="365760" y="853715"/>
            <a:ext cx="822960" cy="54864"/>
          </a:xfrm>
          <a:prstGeom prst="rect">
            <a:avLst/>
          </a:prstGeom>
          <a:solidFill>
            <a:srgbClr val="00C8FF"/>
          </a:solidFill>
          <a:ln w="12700">
            <a:solidFill>
              <a:srgbClr val="00C8FF"/>
            </a:solidFill>
            <a:prstDash val="solid"/>
          </a:ln>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81818"/>
        </a:solidFill>
        <a:effectLst/>
      </p:bgPr>
    </p:bg>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id="{B5281773-A665-7774-645F-946374A3F940}"/>
              </a:ext>
            </a:extLst>
          </p:cNvPr>
          <p:cNvPicPr>
            <a:picLocks noChangeAspect="1"/>
          </p:cNvPicPr>
          <p:nvPr/>
        </p:nvPicPr>
        <p:blipFill>
          <a:blip r:embed="rId3">
            <a:alphaModFix amt="20000"/>
            <a:extLst>
              <a:ext uri="{BEBA8EAE-BF5A-486C-A8C5-ECC9F3942E4B}">
                <a14:imgProps xmlns:a14="http://schemas.microsoft.com/office/drawing/2010/main">
                  <a14:imgLayer r:embed="rId4">
                    <a14:imgEffect>
                      <a14:sharpenSoften amount="-1000"/>
                    </a14:imgEffect>
                  </a14:imgLayer>
                </a14:imgProps>
              </a:ext>
            </a:extLst>
          </a:blip>
          <a:stretch>
            <a:fillRect/>
          </a:stretch>
        </p:blipFill>
        <p:spPr>
          <a:xfrm>
            <a:off x="0" y="0"/>
            <a:ext cx="9144000" cy="5143499"/>
          </a:xfrm>
          <a:prstGeom prst="rect">
            <a:avLst/>
          </a:prstGeom>
          <a:effectLst>
            <a:reflection endPos="0" dist="50800" dir="5400000" sy="-100000" algn="bl" rotWithShape="0"/>
          </a:effectLst>
        </p:spPr>
      </p:pic>
      <p:sp>
        <p:nvSpPr>
          <p:cNvPr id="2" name="Text 0"/>
          <p:cNvSpPr/>
          <p:nvPr/>
        </p:nvSpPr>
        <p:spPr>
          <a:xfrm>
            <a:off x="365760" y="232756"/>
            <a:ext cx="8412480" cy="640080"/>
          </a:xfrm>
          <a:prstGeom prst="rect">
            <a:avLst/>
          </a:prstGeom>
          <a:noFill/>
          <a:ln/>
        </p:spPr>
        <p:txBody>
          <a:bodyPr wrap="square" lIns="0" tIns="0" rIns="0" bIns="0" rtlCol="0" anchor="ctr"/>
          <a:lstStyle/>
          <a:p>
            <a:pPr marL="0" indent="0">
              <a:buNone/>
            </a:pPr>
            <a:r>
              <a:rPr lang="en-US" sz="3600" b="1" dirty="0">
                <a:solidFill>
                  <a:schemeClr val="bg1"/>
                </a:solidFill>
                <a:latin typeface="Calibri" pitchFamily="34" charset="0"/>
                <a:ea typeface="Calibri" pitchFamily="34" charset="-122"/>
                <a:cs typeface="Calibri" pitchFamily="34" charset="-120"/>
              </a:rPr>
              <a:t>System Flow</a:t>
            </a:r>
            <a:endParaRPr lang="en-US" sz="3600" dirty="0">
              <a:solidFill>
                <a:schemeClr val="bg1"/>
              </a:solidFill>
            </a:endParaRPr>
          </a:p>
        </p:txBody>
      </p:sp>
      <p:sp>
        <p:nvSpPr>
          <p:cNvPr id="4" name="Shape 2"/>
          <p:cNvSpPr/>
          <p:nvPr/>
        </p:nvSpPr>
        <p:spPr>
          <a:xfrm>
            <a:off x="480060" y="1645920"/>
            <a:ext cx="1417320" cy="1371600"/>
          </a:xfrm>
          <a:prstGeom prst="rect">
            <a:avLst/>
          </a:prstGeom>
          <a:solidFill>
            <a:srgbClr val="1E1E1E"/>
          </a:solidFill>
          <a:ln w="19050">
            <a:solidFill>
              <a:srgbClr val="00C8FF"/>
            </a:solidFill>
            <a:prstDash val="solid"/>
          </a:ln>
        </p:spPr>
        <p:txBody>
          <a:bodyPr/>
          <a:lstStyle/>
          <a:p>
            <a:endParaRPr lang="en-US"/>
          </a:p>
        </p:txBody>
      </p:sp>
      <p:sp>
        <p:nvSpPr>
          <p:cNvPr id="5" name="Text 3"/>
          <p:cNvSpPr/>
          <p:nvPr/>
        </p:nvSpPr>
        <p:spPr>
          <a:xfrm>
            <a:off x="525780" y="1737360"/>
            <a:ext cx="1325880" cy="640080"/>
          </a:xfrm>
          <a:prstGeom prst="rect">
            <a:avLst/>
          </a:prstGeom>
          <a:noFill/>
          <a:ln/>
        </p:spPr>
        <p:txBody>
          <a:bodyPr wrap="square" lIns="0" tIns="0" rIns="0" bIns="0" rtlCol="0" anchor="ctr"/>
          <a:lstStyle/>
          <a:p>
            <a:pPr marL="0" indent="0" algn="ctr">
              <a:buNone/>
            </a:pPr>
            <a:r>
              <a:rPr lang="en-US" sz="1150" b="1" dirty="0">
                <a:solidFill>
                  <a:srgbClr val="00C8FF"/>
                </a:solidFill>
                <a:latin typeface="Calibri" pitchFamily="34" charset="0"/>
                <a:ea typeface="Calibri" pitchFamily="34" charset="-122"/>
                <a:cs typeface="Calibri" pitchFamily="34" charset="-120"/>
              </a:rPr>
              <a:t>Test Image</a:t>
            </a:r>
            <a:endParaRPr lang="en-US" sz="1150" dirty="0"/>
          </a:p>
          <a:p>
            <a:pPr marL="0" indent="0" algn="ctr">
              <a:buNone/>
            </a:pPr>
            <a:r>
              <a:rPr lang="en-US" sz="1150" b="1" dirty="0">
                <a:solidFill>
                  <a:srgbClr val="00C8FF"/>
                </a:solidFill>
                <a:latin typeface="Calibri" pitchFamily="34" charset="0"/>
                <a:ea typeface="Calibri" pitchFamily="34" charset="-122"/>
                <a:cs typeface="Calibri" pitchFamily="34" charset="-120"/>
              </a:rPr>
              <a:t>Generator</a:t>
            </a:r>
            <a:endParaRPr lang="en-US" sz="1150" dirty="0"/>
          </a:p>
        </p:txBody>
      </p:sp>
      <p:sp>
        <p:nvSpPr>
          <p:cNvPr id="6" name="Text 4"/>
          <p:cNvSpPr/>
          <p:nvPr/>
        </p:nvSpPr>
        <p:spPr>
          <a:xfrm>
            <a:off x="525780" y="2395728"/>
            <a:ext cx="1325880" cy="548640"/>
          </a:xfrm>
          <a:prstGeom prst="rect">
            <a:avLst/>
          </a:prstGeom>
          <a:noFill/>
          <a:ln/>
        </p:spPr>
        <p:txBody>
          <a:bodyPr wrap="square" lIns="0" tIns="0" rIns="0" bIns="0" rtlCol="0" anchor="t"/>
          <a:lstStyle/>
          <a:p>
            <a:pPr marL="0" indent="0" algn="ctr">
              <a:buNone/>
            </a:pPr>
            <a:r>
              <a:rPr lang="en-US" sz="1000" dirty="0">
                <a:solidFill>
                  <a:srgbClr val="CCCCCC"/>
                </a:solidFill>
                <a:latin typeface="Calibri" pitchFamily="34" charset="0"/>
                <a:ea typeface="Calibri" pitchFamily="34" charset="-122"/>
                <a:cs typeface="Calibri" pitchFamily="34" charset="-120"/>
              </a:rPr>
              <a:t>256×256 synthetic</a:t>
            </a:r>
            <a:endParaRPr lang="en-US" sz="1000" dirty="0"/>
          </a:p>
          <a:p>
            <a:pPr marL="0" indent="0" algn="ctr">
              <a:buNone/>
            </a:pPr>
            <a:r>
              <a:rPr lang="en-US" sz="1000" dirty="0">
                <a:solidFill>
                  <a:srgbClr val="CCCCCC"/>
                </a:solidFill>
                <a:latin typeface="Calibri" pitchFamily="34" charset="0"/>
                <a:ea typeface="Calibri" pitchFamily="34" charset="-122"/>
                <a:cs typeface="Calibri" pitchFamily="34" charset="-120"/>
              </a:rPr>
              <a:t>scene (Python)</a:t>
            </a:r>
            <a:endParaRPr lang="en-US" sz="1000" dirty="0"/>
          </a:p>
        </p:txBody>
      </p:sp>
      <p:sp>
        <p:nvSpPr>
          <p:cNvPr id="7" name="Shape 5"/>
          <p:cNvSpPr/>
          <p:nvPr/>
        </p:nvSpPr>
        <p:spPr>
          <a:xfrm>
            <a:off x="1924812" y="2331720"/>
            <a:ext cx="219456" cy="0"/>
          </a:xfrm>
          <a:prstGeom prst="line">
            <a:avLst/>
          </a:prstGeom>
          <a:noFill/>
          <a:ln w="25400">
            <a:solidFill>
              <a:srgbClr val="7B61FF"/>
            </a:solidFill>
            <a:prstDash val="solid"/>
          </a:ln>
        </p:spPr>
        <p:txBody>
          <a:bodyPr/>
          <a:lstStyle/>
          <a:p>
            <a:endParaRPr lang="en-US"/>
          </a:p>
        </p:txBody>
      </p:sp>
      <p:sp>
        <p:nvSpPr>
          <p:cNvPr id="8" name="Shape 6"/>
          <p:cNvSpPr/>
          <p:nvPr/>
        </p:nvSpPr>
        <p:spPr>
          <a:xfrm>
            <a:off x="2171700" y="1645920"/>
            <a:ext cx="1417320" cy="1371600"/>
          </a:xfrm>
          <a:prstGeom prst="rect">
            <a:avLst/>
          </a:prstGeom>
          <a:solidFill>
            <a:srgbClr val="1E1E1E"/>
          </a:solidFill>
          <a:ln w="19050">
            <a:solidFill>
              <a:srgbClr val="00C8FF"/>
            </a:solidFill>
            <a:prstDash val="solid"/>
          </a:ln>
        </p:spPr>
        <p:txBody>
          <a:bodyPr/>
          <a:lstStyle/>
          <a:p>
            <a:endParaRPr lang="en-US"/>
          </a:p>
        </p:txBody>
      </p:sp>
      <p:sp>
        <p:nvSpPr>
          <p:cNvPr id="9" name="Text 7"/>
          <p:cNvSpPr/>
          <p:nvPr/>
        </p:nvSpPr>
        <p:spPr>
          <a:xfrm>
            <a:off x="2217420" y="1737360"/>
            <a:ext cx="1325880" cy="640080"/>
          </a:xfrm>
          <a:prstGeom prst="rect">
            <a:avLst/>
          </a:prstGeom>
          <a:noFill/>
          <a:ln/>
        </p:spPr>
        <p:txBody>
          <a:bodyPr wrap="square" lIns="0" tIns="0" rIns="0" bIns="0" rtlCol="0" anchor="ctr"/>
          <a:lstStyle/>
          <a:p>
            <a:pPr marL="0" indent="0" algn="ctr">
              <a:buNone/>
            </a:pPr>
            <a:r>
              <a:rPr lang="en-US" sz="1150" b="1" dirty="0">
                <a:solidFill>
                  <a:srgbClr val="00C8FF"/>
                </a:solidFill>
                <a:latin typeface="Calibri" pitchFamily="34" charset="0"/>
                <a:ea typeface="Calibri" pitchFamily="34" charset="-122"/>
                <a:cs typeface="Calibri" pitchFamily="34" charset="-120"/>
              </a:rPr>
              <a:t>cocotb</a:t>
            </a:r>
            <a:endParaRPr lang="en-US" sz="1150" dirty="0"/>
          </a:p>
          <a:p>
            <a:pPr marL="0" indent="0" algn="ctr">
              <a:buNone/>
            </a:pPr>
            <a:r>
              <a:rPr lang="en-US" sz="1150" b="1" dirty="0">
                <a:solidFill>
                  <a:srgbClr val="00C8FF"/>
                </a:solidFill>
                <a:latin typeface="Calibri" pitchFamily="34" charset="0"/>
                <a:ea typeface="Calibri" pitchFamily="34" charset="-122"/>
                <a:cs typeface="Calibri" pitchFamily="34" charset="-120"/>
              </a:rPr>
              <a:t>Testbench</a:t>
            </a:r>
            <a:endParaRPr lang="en-US" sz="1150" dirty="0"/>
          </a:p>
        </p:txBody>
      </p:sp>
      <p:sp>
        <p:nvSpPr>
          <p:cNvPr id="10" name="Text 8"/>
          <p:cNvSpPr/>
          <p:nvPr/>
        </p:nvSpPr>
        <p:spPr>
          <a:xfrm>
            <a:off x="2217420" y="2395728"/>
            <a:ext cx="1325880" cy="548640"/>
          </a:xfrm>
          <a:prstGeom prst="rect">
            <a:avLst/>
          </a:prstGeom>
          <a:noFill/>
          <a:ln/>
        </p:spPr>
        <p:txBody>
          <a:bodyPr wrap="square" lIns="0" tIns="0" rIns="0" bIns="0" rtlCol="0" anchor="t"/>
          <a:lstStyle/>
          <a:p>
            <a:pPr marL="0" indent="0" algn="ctr">
              <a:buNone/>
            </a:pPr>
            <a:r>
              <a:rPr lang="en-US" sz="1000" dirty="0">
                <a:solidFill>
                  <a:srgbClr val="CCCCCC"/>
                </a:solidFill>
                <a:latin typeface="Calibri" pitchFamily="34" charset="0"/>
                <a:ea typeface="Calibri" pitchFamily="34" charset="-122"/>
                <a:cs typeface="Calibri" pitchFamily="34" charset="-120"/>
              </a:rPr>
              <a:t>Drives clk, rst_n,</a:t>
            </a:r>
            <a:endParaRPr lang="en-US" sz="1000" dirty="0"/>
          </a:p>
          <a:p>
            <a:pPr marL="0" indent="0" algn="ctr">
              <a:buNone/>
            </a:pPr>
            <a:r>
              <a:rPr lang="en-US" sz="1000" dirty="0">
                <a:solidFill>
                  <a:srgbClr val="CCCCCC"/>
                </a:solidFill>
                <a:latin typeface="Calibri" pitchFamily="34" charset="0"/>
                <a:ea typeface="Calibri" pitchFamily="34" charset="-122"/>
                <a:cs typeface="Calibri" pitchFamily="34" charset="-120"/>
              </a:rPr>
              <a:t>mode, pixel in</a:t>
            </a:r>
            <a:endParaRPr lang="en-US" sz="1000" dirty="0"/>
          </a:p>
        </p:txBody>
      </p:sp>
      <p:sp>
        <p:nvSpPr>
          <p:cNvPr id="11" name="Shape 9"/>
          <p:cNvSpPr/>
          <p:nvPr/>
        </p:nvSpPr>
        <p:spPr>
          <a:xfrm>
            <a:off x="3616452" y="2331720"/>
            <a:ext cx="219456" cy="0"/>
          </a:xfrm>
          <a:prstGeom prst="line">
            <a:avLst/>
          </a:prstGeom>
          <a:noFill/>
          <a:ln w="25400">
            <a:solidFill>
              <a:srgbClr val="7B61FF"/>
            </a:solidFill>
            <a:prstDash val="solid"/>
          </a:ln>
        </p:spPr>
        <p:txBody>
          <a:bodyPr/>
          <a:lstStyle/>
          <a:p>
            <a:endParaRPr lang="en-US"/>
          </a:p>
        </p:txBody>
      </p:sp>
      <p:sp>
        <p:nvSpPr>
          <p:cNvPr id="12" name="Shape 10"/>
          <p:cNvSpPr/>
          <p:nvPr/>
        </p:nvSpPr>
        <p:spPr>
          <a:xfrm>
            <a:off x="3863340" y="1645920"/>
            <a:ext cx="1417320" cy="1371600"/>
          </a:xfrm>
          <a:prstGeom prst="rect">
            <a:avLst/>
          </a:prstGeom>
          <a:solidFill>
            <a:srgbClr val="1E1E1E"/>
          </a:solidFill>
          <a:ln w="19050">
            <a:solidFill>
              <a:srgbClr val="00C8FF"/>
            </a:solidFill>
            <a:prstDash val="solid"/>
          </a:ln>
        </p:spPr>
        <p:txBody>
          <a:bodyPr/>
          <a:lstStyle/>
          <a:p>
            <a:endParaRPr lang="en-US"/>
          </a:p>
        </p:txBody>
      </p:sp>
      <p:sp>
        <p:nvSpPr>
          <p:cNvPr id="13" name="Text 11"/>
          <p:cNvSpPr/>
          <p:nvPr/>
        </p:nvSpPr>
        <p:spPr>
          <a:xfrm>
            <a:off x="3909060" y="1737360"/>
            <a:ext cx="1325880" cy="640080"/>
          </a:xfrm>
          <a:prstGeom prst="rect">
            <a:avLst/>
          </a:prstGeom>
          <a:noFill/>
          <a:ln/>
        </p:spPr>
        <p:txBody>
          <a:bodyPr wrap="square" lIns="0" tIns="0" rIns="0" bIns="0" rtlCol="0" anchor="ctr"/>
          <a:lstStyle/>
          <a:p>
            <a:pPr marL="0" indent="0" algn="ctr">
              <a:buNone/>
            </a:pPr>
            <a:r>
              <a:rPr lang="en-US" sz="1150" b="1" dirty="0">
                <a:solidFill>
                  <a:srgbClr val="00C8FF"/>
                </a:solidFill>
                <a:latin typeface="Calibri" pitchFamily="34" charset="0"/>
                <a:ea typeface="Calibri" pitchFamily="34" charset="-122"/>
                <a:cs typeface="Calibri" pitchFamily="34" charset="-120"/>
              </a:rPr>
              <a:t>Top Module</a:t>
            </a:r>
            <a:endParaRPr lang="en-US" sz="1150" dirty="0"/>
          </a:p>
          <a:p>
            <a:pPr marL="0" indent="0" algn="ctr">
              <a:buNone/>
            </a:pPr>
            <a:r>
              <a:rPr lang="en-US" sz="1150" b="1" dirty="0">
                <a:solidFill>
                  <a:srgbClr val="00C8FF"/>
                </a:solidFill>
                <a:latin typeface="Calibri" pitchFamily="34" charset="0"/>
                <a:ea typeface="Calibri" pitchFamily="34" charset="-122"/>
                <a:cs typeface="Calibri" pitchFamily="34" charset="-120"/>
              </a:rPr>
              <a:t>tt_um_connerdaehler</a:t>
            </a:r>
            <a:endParaRPr lang="en-US" sz="1150" dirty="0"/>
          </a:p>
        </p:txBody>
      </p:sp>
      <p:sp>
        <p:nvSpPr>
          <p:cNvPr id="14" name="Text 12"/>
          <p:cNvSpPr/>
          <p:nvPr/>
        </p:nvSpPr>
        <p:spPr>
          <a:xfrm>
            <a:off x="3909060" y="2395728"/>
            <a:ext cx="1325880" cy="548640"/>
          </a:xfrm>
          <a:prstGeom prst="rect">
            <a:avLst/>
          </a:prstGeom>
          <a:noFill/>
          <a:ln/>
        </p:spPr>
        <p:txBody>
          <a:bodyPr wrap="square" lIns="0" tIns="0" rIns="0" bIns="0" rtlCol="0" anchor="t"/>
          <a:lstStyle/>
          <a:p>
            <a:pPr marL="0" indent="0" algn="ctr">
              <a:buNone/>
            </a:pPr>
            <a:r>
              <a:rPr lang="en-US" sz="1000" dirty="0">
                <a:solidFill>
                  <a:srgbClr val="CCCCCC"/>
                </a:solidFill>
                <a:latin typeface="Calibri" pitchFamily="34" charset="0"/>
                <a:ea typeface="Calibri" pitchFamily="34" charset="-122"/>
                <a:cs typeface="Calibri" pitchFamily="34" charset="-120"/>
              </a:rPr>
              <a:t>Routes control pins</a:t>
            </a:r>
            <a:endParaRPr lang="en-US" sz="1000" dirty="0"/>
          </a:p>
          <a:p>
            <a:pPr marL="0" indent="0" algn="ctr">
              <a:buNone/>
            </a:pPr>
            <a:r>
              <a:rPr lang="en-US" sz="1000" dirty="0">
                <a:solidFill>
                  <a:srgbClr val="CCCCCC"/>
                </a:solidFill>
                <a:latin typeface="Calibri" pitchFamily="34" charset="0"/>
                <a:ea typeface="Calibri" pitchFamily="34" charset="-122"/>
                <a:cs typeface="Calibri" pitchFamily="34" charset="-120"/>
              </a:rPr>
              <a:t>to graphics core</a:t>
            </a:r>
            <a:endParaRPr lang="en-US" sz="1000" dirty="0"/>
          </a:p>
        </p:txBody>
      </p:sp>
      <p:sp>
        <p:nvSpPr>
          <p:cNvPr id="15" name="Shape 13"/>
          <p:cNvSpPr/>
          <p:nvPr/>
        </p:nvSpPr>
        <p:spPr>
          <a:xfrm>
            <a:off x="5308092" y="2331720"/>
            <a:ext cx="219456" cy="0"/>
          </a:xfrm>
          <a:prstGeom prst="line">
            <a:avLst/>
          </a:prstGeom>
          <a:noFill/>
          <a:ln w="25400">
            <a:solidFill>
              <a:srgbClr val="7B61FF"/>
            </a:solidFill>
            <a:prstDash val="solid"/>
          </a:ln>
        </p:spPr>
        <p:txBody>
          <a:bodyPr/>
          <a:lstStyle/>
          <a:p>
            <a:endParaRPr lang="en-US"/>
          </a:p>
        </p:txBody>
      </p:sp>
      <p:sp>
        <p:nvSpPr>
          <p:cNvPr id="16" name="Shape 14"/>
          <p:cNvSpPr/>
          <p:nvPr/>
        </p:nvSpPr>
        <p:spPr>
          <a:xfrm>
            <a:off x="5554980" y="1645920"/>
            <a:ext cx="1417320" cy="1371600"/>
          </a:xfrm>
          <a:prstGeom prst="rect">
            <a:avLst/>
          </a:prstGeom>
          <a:solidFill>
            <a:srgbClr val="1E1E1E"/>
          </a:solidFill>
          <a:ln w="19050">
            <a:solidFill>
              <a:srgbClr val="00C8FF"/>
            </a:solidFill>
            <a:prstDash val="solid"/>
          </a:ln>
        </p:spPr>
        <p:txBody>
          <a:bodyPr/>
          <a:lstStyle/>
          <a:p>
            <a:endParaRPr lang="en-US"/>
          </a:p>
        </p:txBody>
      </p:sp>
      <p:sp>
        <p:nvSpPr>
          <p:cNvPr id="17" name="Text 15"/>
          <p:cNvSpPr/>
          <p:nvPr/>
        </p:nvSpPr>
        <p:spPr>
          <a:xfrm>
            <a:off x="5600700" y="1737360"/>
            <a:ext cx="1325880" cy="640080"/>
          </a:xfrm>
          <a:prstGeom prst="rect">
            <a:avLst/>
          </a:prstGeom>
          <a:noFill/>
          <a:ln/>
        </p:spPr>
        <p:txBody>
          <a:bodyPr wrap="square" lIns="0" tIns="0" rIns="0" bIns="0" rtlCol="0" anchor="ctr"/>
          <a:lstStyle/>
          <a:p>
            <a:pPr marL="0" indent="0" algn="ctr">
              <a:buNone/>
            </a:pPr>
            <a:r>
              <a:rPr lang="en-US" sz="1150" b="1" dirty="0">
                <a:solidFill>
                  <a:srgbClr val="00C8FF"/>
                </a:solidFill>
                <a:latin typeface="Calibri" pitchFamily="34" charset="0"/>
                <a:ea typeface="Calibri" pitchFamily="34" charset="-122"/>
                <a:cs typeface="Calibri" pitchFamily="34" charset="-120"/>
              </a:rPr>
              <a:t>Procedural</a:t>
            </a:r>
            <a:endParaRPr lang="en-US" sz="1150" dirty="0"/>
          </a:p>
          <a:p>
            <a:pPr marL="0" indent="0" algn="ctr">
              <a:buNone/>
            </a:pPr>
            <a:r>
              <a:rPr lang="en-US" sz="1150" b="1" dirty="0">
                <a:solidFill>
                  <a:srgbClr val="00C8FF"/>
                </a:solidFill>
                <a:latin typeface="Calibri" pitchFamily="34" charset="0"/>
                <a:ea typeface="Calibri" pitchFamily="34" charset="-122"/>
                <a:cs typeface="Calibri" pitchFamily="34" charset="-120"/>
              </a:rPr>
              <a:t>Graphics Core</a:t>
            </a:r>
            <a:endParaRPr lang="en-US" sz="1150" dirty="0"/>
          </a:p>
        </p:txBody>
      </p:sp>
      <p:sp>
        <p:nvSpPr>
          <p:cNvPr id="18" name="Text 16"/>
          <p:cNvSpPr/>
          <p:nvPr/>
        </p:nvSpPr>
        <p:spPr>
          <a:xfrm>
            <a:off x="5600700" y="2395728"/>
            <a:ext cx="1325880" cy="548640"/>
          </a:xfrm>
          <a:prstGeom prst="rect">
            <a:avLst/>
          </a:prstGeom>
          <a:noFill/>
          <a:ln/>
        </p:spPr>
        <p:txBody>
          <a:bodyPr wrap="square" lIns="0" tIns="0" rIns="0" bIns="0" rtlCol="0" anchor="t"/>
          <a:lstStyle/>
          <a:p>
            <a:pPr marL="0" indent="0" algn="ctr">
              <a:buNone/>
            </a:pPr>
            <a:r>
              <a:rPr lang="en-US" sz="1000" dirty="0">
                <a:solidFill>
                  <a:srgbClr val="CCCCCC"/>
                </a:solidFill>
                <a:latin typeface="Calibri" pitchFamily="34" charset="0"/>
                <a:ea typeface="Calibri" pitchFamily="34" charset="-122"/>
                <a:cs typeface="Calibri" pitchFamily="34" charset="-120"/>
              </a:rPr>
              <a:t>Per-pixel distance</a:t>
            </a:r>
            <a:endParaRPr lang="en-US" sz="1000" dirty="0"/>
          </a:p>
          <a:p>
            <a:pPr marL="0" indent="0" algn="ctr">
              <a:buNone/>
            </a:pPr>
            <a:r>
              <a:rPr lang="en-US" sz="1000" dirty="0">
                <a:solidFill>
                  <a:srgbClr val="CCCCCC"/>
                </a:solidFill>
                <a:latin typeface="Calibri" pitchFamily="34" charset="0"/>
                <a:ea typeface="Calibri" pitchFamily="34" charset="-122"/>
                <a:cs typeface="Calibri" pitchFamily="34" charset="-120"/>
              </a:rPr>
              <a:t>field + lighting math</a:t>
            </a:r>
            <a:endParaRPr lang="en-US" sz="1000" dirty="0"/>
          </a:p>
        </p:txBody>
      </p:sp>
      <p:sp>
        <p:nvSpPr>
          <p:cNvPr id="19" name="Shape 17"/>
          <p:cNvSpPr/>
          <p:nvPr/>
        </p:nvSpPr>
        <p:spPr>
          <a:xfrm>
            <a:off x="6999732" y="2331720"/>
            <a:ext cx="219456" cy="0"/>
          </a:xfrm>
          <a:prstGeom prst="line">
            <a:avLst/>
          </a:prstGeom>
          <a:noFill/>
          <a:ln w="25400">
            <a:solidFill>
              <a:srgbClr val="7B61FF"/>
            </a:solidFill>
            <a:prstDash val="solid"/>
          </a:ln>
        </p:spPr>
        <p:txBody>
          <a:bodyPr/>
          <a:lstStyle/>
          <a:p>
            <a:endParaRPr lang="en-US"/>
          </a:p>
        </p:txBody>
      </p:sp>
      <p:sp>
        <p:nvSpPr>
          <p:cNvPr id="20" name="Shape 18"/>
          <p:cNvSpPr/>
          <p:nvPr/>
        </p:nvSpPr>
        <p:spPr>
          <a:xfrm>
            <a:off x="7246620" y="1645920"/>
            <a:ext cx="1417320" cy="1371600"/>
          </a:xfrm>
          <a:prstGeom prst="rect">
            <a:avLst/>
          </a:prstGeom>
          <a:solidFill>
            <a:srgbClr val="1E1E1E"/>
          </a:solidFill>
          <a:ln w="19050">
            <a:solidFill>
              <a:srgbClr val="00C8FF"/>
            </a:solidFill>
            <a:prstDash val="solid"/>
          </a:ln>
        </p:spPr>
        <p:txBody>
          <a:bodyPr/>
          <a:lstStyle/>
          <a:p>
            <a:endParaRPr lang="en-US"/>
          </a:p>
        </p:txBody>
      </p:sp>
      <p:sp>
        <p:nvSpPr>
          <p:cNvPr id="21" name="Text 19"/>
          <p:cNvSpPr/>
          <p:nvPr/>
        </p:nvSpPr>
        <p:spPr>
          <a:xfrm>
            <a:off x="7292340" y="1737360"/>
            <a:ext cx="1325880" cy="640080"/>
          </a:xfrm>
          <a:prstGeom prst="rect">
            <a:avLst/>
          </a:prstGeom>
          <a:noFill/>
          <a:ln/>
        </p:spPr>
        <p:txBody>
          <a:bodyPr wrap="square" lIns="0" tIns="0" rIns="0" bIns="0" rtlCol="0" anchor="ctr"/>
          <a:lstStyle/>
          <a:p>
            <a:pPr marL="0" indent="0" algn="ctr">
              <a:buNone/>
            </a:pPr>
            <a:r>
              <a:rPr lang="en-US" sz="1150" b="1" dirty="0">
                <a:solidFill>
                  <a:srgbClr val="00C8FF"/>
                </a:solidFill>
                <a:latin typeface="Calibri" pitchFamily="34" charset="0"/>
                <a:ea typeface="Calibri" pitchFamily="34" charset="-122"/>
                <a:cs typeface="Calibri" pitchFamily="34" charset="-120"/>
              </a:rPr>
              <a:t>Output</a:t>
            </a:r>
            <a:endParaRPr lang="en-US" sz="1150" dirty="0"/>
          </a:p>
          <a:p>
            <a:pPr marL="0" indent="0" algn="ctr">
              <a:buNone/>
            </a:pPr>
            <a:r>
              <a:rPr lang="en-US" sz="1150" b="1" dirty="0">
                <a:solidFill>
                  <a:srgbClr val="00C8FF"/>
                </a:solidFill>
                <a:latin typeface="Calibri" pitchFamily="34" charset="0"/>
                <a:ea typeface="Calibri" pitchFamily="34" charset="-122"/>
                <a:cs typeface="Calibri" pitchFamily="34" charset="-120"/>
              </a:rPr>
              <a:t>Frames</a:t>
            </a:r>
            <a:endParaRPr lang="en-US" sz="1150" dirty="0"/>
          </a:p>
        </p:txBody>
      </p:sp>
      <p:sp>
        <p:nvSpPr>
          <p:cNvPr id="22" name="Text 20"/>
          <p:cNvSpPr/>
          <p:nvPr/>
        </p:nvSpPr>
        <p:spPr>
          <a:xfrm>
            <a:off x="7292340" y="2395728"/>
            <a:ext cx="1325880" cy="548640"/>
          </a:xfrm>
          <a:prstGeom prst="rect">
            <a:avLst/>
          </a:prstGeom>
          <a:noFill/>
          <a:ln/>
        </p:spPr>
        <p:txBody>
          <a:bodyPr wrap="square" lIns="0" tIns="0" rIns="0" bIns="0" rtlCol="0" anchor="t"/>
          <a:lstStyle/>
          <a:p>
            <a:pPr marL="0" indent="0" algn="ctr">
              <a:buNone/>
            </a:pPr>
            <a:r>
              <a:rPr lang="en-US" sz="1000" dirty="0">
                <a:solidFill>
                  <a:srgbClr val="CCCCCC"/>
                </a:solidFill>
                <a:latin typeface="Calibri" pitchFamily="34" charset="0"/>
                <a:ea typeface="Calibri" pitchFamily="34" charset="-122"/>
                <a:cs typeface="Calibri" pitchFamily="34" charset="-120"/>
              </a:rPr>
              <a:t>PNG saved per mode</a:t>
            </a:r>
            <a:endParaRPr lang="en-US" sz="1000" dirty="0"/>
          </a:p>
          <a:p>
            <a:pPr marL="0" indent="0" algn="ctr">
              <a:buNone/>
            </a:pPr>
            <a:r>
              <a:rPr lang="en-US" sz="1000" dirty="0">
                <a:solidFill>
                  <a:srgbClr val="CCCCCC"/>
                </a:solidFill>
                <a:latin typeface="Calibri" pitchFamily="34" charset="0"/>
                <a:ea typeface="Calibri" pitchFamily="34" charset="-122"/>
                <a:cs typeface="Calibri" pitchFamily="34" charset="-120"/>
              </a:rPr>
              <a:t>(mode0–mode3)</a:t>
            </a:r>
            <a:endParaRPr lang="en-US" sz="1000" dirty="0"/>
          </a:p>
        </p:txBody>
      </p:sp>
      <p:sp>
        <p:nvSpPr>
          <p:cNvPr id="23" name="Text 21"/>
          <p:cNvSpPr/>
          <p:nvPr/>
        </p:nvSpPr>
        <p:spPr>
          <a:xfrm>
            <a:off x="457200" y="4297680"/>
            <a:ext cx="8229600" cy="365760"/>
          </a:xfrm>
          <a:prstGeom prst="rect">
            <a:avLst/>
          </a:prstGeom>
          <a:noFill/>
          <a:ln/>
        </p:spPr>
        <p:txBody>
          <a:bodyPr wrap="square" lIns="0" tIns="0" rIns="0" bIns="0" rtlCol="0" anchor="ctr"/>
          <a:lstStyle/>
          <a:p>
            <a:pPr marL="0" indent="0" algn="ctr">
              <a:buNone/>
            </a:pPr>
            <a:r>
              <a:rPr lang="en-US" sz="1200" i="1" dirty="0">
                <a:solidFill>
                  <a:srgbClr val="888888"/>
                </a:solidFill>
                <a:latin typeface="Calibri" pitchFamily="34" charset="0"/>
                <a:ea typeface="Calibri" pitchFamily="34" charset="-122"/>
                <a:cs typeface="Calibri" pitchFamily="34" charset="-120"/>
              </a:rPr>
              <a:t>Control pins: MODE[1:0]  |  FREEZE  |  INVERT  →  all driven via ui_in[3:0]</a:t>
            </a:r>
            <a:endParaRPr lang="en-US" sz="1200" dirty="0"/>
          </a:p>
        </p:txBody>
      </p:sp>
      <p:sp>
        <p:nvSpPr>
          <p:cNvPr id="24" name="Text 22"/>
          <p:cNvSpPr/>
          <p:nvPr/>
        </p:nvSpPr>
        <p:spPr>
          <a:xfrm>
            <a:off x="457200" y="4663440"/>
            <a:ext cx="8229600" cy="320040"/>
          </a:xfrm>
          <a:prstGeom prst="rect">
            <a:avLst/>
          </a:prstGeom>
          <a:noFill/>
          <a:ln/>
        </p:spPr>
        <p:txBody>
          <a:bodyPr wrap="square" lIns="0" tIns="0" rIns="0" bIns="0" rtlCol="0" anchor="ctr"/>
          <a:lstStyle/>
          <a:p>
            <a:pPr marL="0" indent="0" algn="ctr">
              <a:buNone/>
            </a:pPr>
            <a:r>
              <a:rPr lang="en-US" sz="1100" dirty="0">
                <a:solidFill>
                  <a:srgbClr val="888888"/>
                </a:solidFill>
                <a:latin typeface="Calibri" pitchFamily="34" charset="0"/>
                <a:ea typeface="Calibri" pitchFamily="34" charset="-122"/>
                <a:cs typeface="Calibri" pitchFamily="34" charset="-120"/>
              </a:rPr>
              <a:t>Clock: 10 MHz  ·  Language: Verilog  ·  Tile: 1×2</a:t>
            </a:r>
            <a:endParaRPr lang="en-US" sz="1100" dirty="0"/>
          </a:p>
        </p:txBody>
      </p:sp>
      <p:sp>
        <p:nvSpPr>
          <p:cNvPr id="900" name="Header_3"/>
          <p:cNvSpPr txBox="1"/>
          <p:nvPr/>
        </p:nvSpPr>
        <p:spPr>
          <a:xfrm>
            <a:off x="3200400" y="76200"/>
            <a:ext cx="5715600" cy="304800"/>
          </a:xfrm>
          <a:prstGeom prst="rect">
            <a:avLst/>
          </a:prstGeom>
          <a:noFill/>
        </p:spPr>
        <p:txBody>
          <a:bodyPr wrap="square" lIns="0" tIns="0" rIns="0" bIns="0" rtlCol="0" anchor="ctr"/>
          <a:lstStyle/>
          <a:p>
            <a:pPr marL="0" indent="0" algn="r">
              <a:buNone/>
            </a:pPr>
            <a:r>
              <a:rPr lang="en-US" sz="900" dirty="0">
                <a:solidFill>
                  <a:srgbClr val="888888"/>
                </a:solidFill>
                <a:latin typeface="Calibri" pitchFamily="34" charset="0"/>
              </a:rPr>
              <a:t>Scan-Based Procedural Fragment Shader ASIC</a:t>
            </a:r>
            <a:endParaRPr lang="en-US" sz="900" dirty="0"/>
          </a:p>
        </p:txBody>
      </p:sp>
      <p:sp>
        <p:nvSpPr>
          <p:cNvPr id="901" name="SlideNum_3"/>
          <p:cNvSpPr txBox="1"/>
          <p:nvPr/>
        </p:nvSpPr>
        <p:spPr>
          <a:xfrm>
            <a:off x="228600" y="76200"/>
            <a:ext cx="914400" cy="304800"/>
          </a:xfrm>
          <a:prstGeom prst="rect">
            <a:avLst/>
          </a:prstGeom>
          <a:noFill/>
        </p:spPr>
        <p:txBody>
          <a:bodyPr wrap="square" lIns="0" tIns="0" rIns="0" bIns="0" rtlCol="0" anchor="ctr"/>
          <a:lstStyle/>
          <a:p>
            <a:pPr marL="0" indent="0" algn="l">
              <a:buNone/>
            </a:pPr>
            <a:r>
              <a:rPr lang="en-US" sz="900" dirty="0">
                <a:solidFill>
                  <a:srgbClr val="888888"/>
                </a:solidFill>
                <a:latin typeface="Calibri" pitchFamily="34" charset="0"/>
              </a:rPr>
              <a:t>3 / 10</a:t>
            </a:r>
            <a:endParaRPr lang="en-US" sz="900" dirty="0"/>
          </a:p>
        </p:txBody>
      </p:sp>
      <p:cxnSp>
        <p:nvCxnSpPr>
          <p:cNvPr id="26" name="Straight Connector 25">
            <a:extLst>
              <a:ext uri="{FF2B5EF4-FFF2-40B4-BE49-F238E27FC236}">
                <a16:creationId xmlns:a16="http://schemas.microsoft.com/office/drawing/2014/main" id="{D91A78EC-EC19-3092-A979-92DFE554072A}"/>
              </a:ext>
            </a:extLst>
          </p:cNvPr>
          <p:cNvCxnSpPr/>
          <p:nvPr/>
        </p:nvCxnSpPr>
        <p:spPr>
          <a:xfrm>
            <a:off x="0" y="0"/>
            <a:ext cx="9260840" cy="13874"/>
          </a:xfrm>
          <a:prstGeom prst="line">
            <a:avLst/>
          </a:prstGeom>
          <a:ln w="76200">
            <a:solidFill>
              <a:srgbClr val="7B61FF"/>
            </a:solidFill>
          </a:ln>
        </p:spPr>
        <p:style>
          <a:lnRef idx="1">
            <a:schemeClr val="accent1"/>
          </a:lnRef>
          <a:fillRef idx="0">
            <a:schemeClr val="accent1"/>
          </a:fillRef>
          <a:effectRef idx="0">
            <a:schemeClr val="accent1"/>
          </a:effectRef>
          <a:fontRef idx="minor">
            <a:schemeClr val="tx1"/>
          </a:fontRef>
        </p:style>
      </p:cxnSp>
      <p:sp>
        <p:nvSpPr>
          <p:cNvPr id="950" name="TitleBar_3"/>
          <p:cNvSpPr/>
          <p:nvPr/>
        </p:nvSpPr>
        <p:spPr>
          <a:xfrm>
            <a:off x="365760" y="853715"/>
            <a:ext cx="822960" cy="54864"/>
          </a:xfrm>
          <a:prstGeom prst="rect">
            <a:avLst/>
          </a:prstGeom>
          <a:solidFill>
            <a:srgbClr val="00C8FF"/>
          </a:solidFill>
          <a:ln w="12700">
            <a:solidFill>
              <a:srgbClr val="00C8FF"/>
            </a:solidFill>
            <a:prstDash val="solid"/>
          </a:ln>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FDC535F-AC0A-417D-96AB-6706BECACD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545" cy="5143500"/>
          </a:xfrm>
          <a:prstGeom prst="rect">
            <a:avLst/>
          </a:prstGeom>
          <a:solidFill>
            <a:srgbClr val="346C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7AAAF8E-31DB-4148-8FCA-4D8233D691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964" y="363051"/>
            <a:ext cx="5173521" cy="441697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A274328-4774-4DF9-BA53-452565122F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71044" y="363051"/>
            <a:ext cx="3109482" cy="262492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363C17D4-2A05-76C9-0EF1-837FD98D7143}"/>
              </a:ext>
            </a:extLst>
          </p:cNvPr>
          <p:cNvPicPr>
            <a:picLocks noChangeAspect="1"/>
          </p:cNvPicPr>
          <p:nvPr/>
        </p:nvPicPr>
        <p:blipFill>
          <a:blip r:embed="rId3">
            <a:alphaModFix amt="17000"/>
          </a:blip>
          <a:stretch>
            <a:fillRect/>
          </a:stretch>
        </p:blipFill>
        <p:spPr>
          <a:xfrm>
            <a:off x="0" y="13874"/>
            <a:ext cx="9144000" cy="5139432"/>
          </a:xfrm>
          <a:prstGeom prst="rect">
            <a:avLst/>
          </a:prstGeom>
          <a:solidFill>
            <a:schemeClr val="tx1">
              <a:lumMod val="85000"/>
              <a:lumOff val="15000"/>
            </a:schemeClr>
          </a:solidFill>
          <a:effectLst>
            <a:reflection endPos="0" dist="50800" dir="5400000" sy="-100000" algn="bl" rotWithShape="0"/>
          </a:effectLst>
        </p:spPr>
      </p:pic>
      <p:sp>
        <p:nvSpPr>
          <p:cNvPr id="19" name="Shape 3">
            <a:extLst>
              <a:ext uri="{FF2B5EF4-FFF2-40B4-BE49-F238E27FC236}">
                <a16:creationId xmlns:a16="http://schemas.microsoft.com/office/drawing/2014/main" id="{65B0E849-A2CA-AD25-5B42-C2559FC4BE9B}"/>
              </a:ext>
            </a:extLst>
          </p:cNvPr>
          <p:cNvSpPr/>
          <p:nvPr/>
        </p:nvSpPr>
        <p:spPr>
          <a:xfrm>
            <a:off x="5613400" y="3044596"/>
            <a:ext cx="3230880" cy="1792051"/>
          </a:xfrm>
          <a:prstGeom prst="rect">
            <a:avLst/>
          </a:prstGeom>
          <a:solidFill>
            <a:srgbClr val="2A2A2A"/>
          </a:solidFill>
          <a:ln w="28575">
            <a:solidFill>
              <a:srgbClr val="7B61FF"/>
            </a:solidFill>
            <a:prstDash val="solid"/>
          </a:ln>
        </p:spPr>
        <p:txBody>
          <a:bodyPr/>
          <a:lstStyle/>
          <a:p>
            <a:endParaRPr lang="en-US"/>
          </a:p>
        </p:txBody>
      </p:sp>
      <p:sp>
        <p:nvSpPr>
          <p:cNvPr id="17" name="Shape 3">
            <a:extLst>
              <a:ext uri="{FF2B5EF4-FFF2-40B4-BE49-F238E27FC236}">
                <a16:creationId xmlns:a16="http://schemas.microsoft.com/office/drawing/2014/main" id="{3BC0DE69-47CC-F44D-6E4D-AB623B1EAAEB}"/>
              </a:ext>
            </a:extLst>
          </p:cNvPr>
          <p:cNvSpPr/>
          <p:nvPr/>
        </p:nvSpPr>
        <p:spPr>
          <a:xfrm>
            <a:off x="255123" y="1314354"/>
            <a:ext cx="3933387" cy="3746692"/>
          </a:xfrm>
          <a:prstGeom prst="rect">
            <a:avLst/>
          </a:prstGeom>
          <a:solidFill>
            <a:srgbClr val="2A2A2A"/>
          </a:solidFill>
          <a:ln w="28575">
            <a:solidFill>
              <a:srgbClr val="7B61FF"/>
            </a:solidFill>
            <a:prstDash val="solid"/>
          </a:ln>
        </p:spPr>
        <p:txBody>
          <a:bodyPr/>
          <a:lstStyle/>
          <a:p>
            <a:endParaRPr lang="en-US"/>
          </a:p>
        </p:txBody>
      </p:sp>
      <p:sp>
        <p:nvSpPr>
          <p:cNvPr id="13" name="Shape 3">
            <a:extLst>
              <a:ext uri="{FF2B5EF4-FFF2-40B4-BE49-F238E27FC236}">
                <a16:creationId xmlns:a16="http://schemas.microsoft.com/office/drawing/2014/main" id="{8CDF6FD3-98E1-9752-7FDA-5F15389E1B22}"/>
              </a:ext>
            </a:extLst>
          </p:cNvPr>
          <p:cNvSpPr/>
          <p:nvPr/>
        </p:nvSpPr>
        <p:spPr>
          <a:xfrm>
            <a:off x="4362340" y="380665"/>
            <a:ext cx="4781659" cy="2494998"/>
          </a:xfrm>
          <a:prstGeom prst="rect">
            <a:avLst/>
          </a:prstGeom>
          <a:solidFill>
            <a:srgbClr val="2A2A2A"/>
          </a:solidFill>
          <a:ln w="28575">
            <a:solidFill>
              <a:srgbClr val="7B61FF"/>
            </a:solidFill>
            <a:prstDash val="solid"/>
          </a:ln>
        </p:spPr>
        <p:txBody>
          <a:bodyPr/>
          <a:lstStyle/>
          <a:p>
            <a:endParaRPr lang="en-US"/>
          </a:p>
        </p:txBody>
      </p:sp>
      <p:pic>
        <p:nvPicPr>
          <p:cNvPr id="5" name="Picture 4">
            <a:extLst>
              <a:ext uri="{FF2B5EF4-FFF2-40B4-BE49-F238E27FC236}">
                <a16:creationId xmlns:a16="http://schemas.microsoft.com/office/drawing/2014/main" id="{B8156867-2946-26AE-5859-0D9926464667}"/>
              </a:ext>
            </a:extLst>
          </p:cNvPr>
          <p:cNvPicPr>
            <a:picLocks noChangeAspect="1"/>
          </p:cNvPicPr>
          <p:nvPr/>
        </p:nvPicPr>
        <p:blipFill>
          <a:blip r:embed="rId4"/>
          <a:stretch>
            <a:fillRect/>
          </a:stretch>
        </p:blipFill>
        <p:spPr>
          <a:xfrm>
            <a:off x="4429760" y="437286"/>
            <a:ext cx="4648919" cy="2377034"/>
          </a:xfrm>
          <a:prstGeom prst="rect">
            <a:avLst/>
          </a:prstGeom>
        </p:spPr>
      </p:pic>
      <p:sp>
        <p:nvSpPr>
          <p:cNvPr id="20" name="Rectangle 19">
            <a:extLst>
              <a:ext uri="{FF2B5EF4-FFF2-40B4-BE49-F238E27FC236}">
                <a16:creationId xmlns:a16="http://schemas.microsoft.com/office/drawing/2014/main" id="{01C7B46D-2FEF-4FAA-915B-8B21A66BB6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71044" y="3108625"/>
            <a:ext cx="3109482" cy="165863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418A522E-E7BD-3D3B-D42D-2525032F413A}"/>
              </a:ext>
            </a:extLst>
          </p:cNvPr>
          <p:cNvPicPr>
            <a:picLocks noChangeAspect="1"/>
          </p:cNvPicPr>
          <p:nvPr/>
        </p:nvPicPr>
        <p:blipFill>
          <a:blip r:embed="rId5"/>
          <a:stretch>
            <a:fillRect/>
          </a:stretch>
        </p:blipFill>
        <p:spPr>
          <a:xfrm>
            <a:off x="5912294" y="3527478"/>
            <a:ext cx="2626982" cy="820931"/>
          </a:xfrm>
          <a:prstGeom prst="rect">
            <a:avLst/>
          </a:prstGeom>
        </p:spPr>
      </p:pic>
      <p:cxnSp>
        <p:nvCxnSpPr>
          <p:cNvPr id="12" name="Straight Connector 11">
            <a:extLst>
              <a:ext uri="{FF2B5EF4-FFF2-40B4-BE49-F238E27FC236}">
                <a16:creationId xmlns:a16="http://schemas.microsoft.com/office/drawing/2014/main" id="{4F9CE4A6-C931-B3CB-DDF2-254803F75772}"/>
              </a:ext>
            </a:extLst>
          </p:cNvPr>
          <p:cNvCxnSpPr/>
          <p:nvPr/>
        </p:nvCxnSpPr>
        <p:spPr>
          <a:xfrm>
            <a:off x="0" y="0"/>
            <a:ext cx="9260840" cy="13874"/>
          </a:xfrm>
          <a:prstGeom prst="line">
            <a:avLst/>
          </a:prstGeom>
          <a:ln w="76200">
            <a:solidFill>
              <a:srgbClr val="7B61FF"/>
            </a:solidFill>
          </a:ln>
        </p:spPr>
        <p:style>
          <a:lnRef idx="1">
            <a:schemeClr val="accent1"/>
          </a:lnRef>
          <a:fillRef idx="0">
            <a:schemeClr val="accent1"/>
          </a:fillRef>
          <a:effectRef idx="0">
            <a:schemeClr val="accent1"/>
          </a:effectRef>
          <a:fontRef idx="minor">
            <a:schemeClr val="tx1"/>
          </a:fontRef>
        </p:style>
      </p:cxnSp>
      <p:sp>
        <p:nvSpPr>
          <p:cNvPr id="21" name="Text 0">
            <a:extLst>
              <a:ext uri="{FF2B5EF4-FFF2-40B4-BE49-F238E27FC236}">
                <a16:creationId xmlns:a16="http://schemas.microsoft.com/office/drawing/2014/main" id="{F48EDA61-49CE-5295-705F-642D38F246E5}"/>
              </a:ext>
            </a:extLst>
          </p:cNvPr>
          <p:cNvSpPr/>
          <p:nvPr/>
        </p:nvSpPr>
        <p:spPr>
          <a:xfrm>
            <a:off x="365760" y="274320"/>
            <a:ext cx="8412480" cy="54864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Sky130A Outputs</a:t>
            </a:r>
            <a:endParaRPr lang="en-US" sz="3600" dirty="0"/>
          </a:p>
        </p:txBody>
      </p:sp>
      <p:sp>
        <p:nvSpPr>
          <p:cNvPr id="900" name="Header_4"/>
          <p:cNvSpPr txBox="1"/>
          <p:nvPr/>
        </p:nvSpPr>
        <p:spPr>
          <a:xfrm>
            <a:off x="3200400" y="76200"/>
            <a:ext cx="5715600" cy="304800"/>
          </a:xfrm>
          <a:prstGeom prst="rect">
            <a:avLst/>
          </a:prstGeom>
          <a:noFill/>
        </p:spPr>
        <p:txBody>
          <a:bodyPr wrap="square" lIns="0" tIns="0" rIns="0" bIns="0" rtlCol="0" anchor="ctr"/>
          <a:lstStyle/>
          <a:p>
            <a:pPr marL="0" indent="0" algn="r">
              <a:buNone/>
            </a:pPr>
            <a:r>
              <a:rPr lang="en-US" sz="900" dirty="0">
                <a:solidFill>
                  <a:srgbClr val="888888"/>
                </a:solidFill>
                <a:latin typeface="Calibri" pitchFamily="34" charset="0"/>
              </a:rPr>
              <a:t>Scan-Based Procedural Fragment Shader ASIC</a:t>
            </a:r>
            <a:endParaRPr lang="en-US" sz="900" dirty="0"/>
          </a:p>
        </p:txBody>
      </p:sp>
      <p:sp>
        <p:nvSpPr>
          <p:cNvPr id="901" name="SlideNum_4"/>
          <p:cNvSpPr txBox="1"/>
          <p:nvPr/>
        </p:nvSpPr>
        <p:spPr>
          <a:xfrm>
            <a:off x="228600" y="76200"/>
            <a:ext cx="914400" cy="304800"/>
          </a:xfrm>
          <a:prstGeom prst="rect">
            <a:avLst/>
          </a:prstGeom>
          <a:noFill/>
        </p:spPr>
        <p:txBody>
          <a:bodyPr wrap="square" lIns="0" tIns="0" rIns="0" bIns="0" rtlCol="0" anchor="ctr"/>
          <a:lstStyle/>
          <a:p>
            <a:pPr marL="0" indent="0" algn="l">
              <a:buNone/>
            </a:pPr>
            <a:r>
              <a:rPr lang="en-US" sz="900" dirty="0">
                <a:solidFill>
                  <a:srgbClr val="888888"/>
                </a:solidFill>
                <a:latin typeface="Calibri" pitchFamily="34" charset="0"/>
              </a:rPr>
              <a:t>4 / 10</a:t>
            </a:r>
            <a:endParaRPr lang="en-US" sz="900" dirty="0"/>
          </a:p>
        </p:txBody>
      </p:sp>
      <p:sp>
        <p:nvSpPr>
          <p:cNvPr id="950" name="TitleBar_4"/>
          <p:cNvSpPr/>
          <p:nvPr/>
        </p:nvSpPr>
        <p:spPr>
          <a:xfrm>
            <a:off x="365760" y="853715"/>
            <a:ext cx="822960" cy="54864"/>
          </a:xfrm>
          <a:prstGeom prst="rect">
            <a:avLst/>
          </a:prstGeom>
          <a:solidFill>
            <a:srgbClr val="00C8FF"/>
          </a:solidFill>
          <a:ln w="12700">
            <a:solidFill>
              <a:srgbClr val="00C8FF"/>
            </a:solidFill>
            <a:prstDash val="solid"/>
          </a:ln>
        </p:spPr>
        <p:txBody>
          <a:bodyPr/>
          <a:lstStyle/>
          <a:p>
            <a:endParaRPr lang="en-US"/>
          </a:p>
        </p:txBody>
      </p:sp>
      <p:pic>
        <p:nvPicPr>
          <p:cNvPr id="3" name="Picture 2">
            <a:extLst>
              <a:ext uri="{FF2B5EF4-FFF2-40B4-BE49-F238E27FC236}">
                <a16:creationId xmlns:a16="http://schemas.microsoft.com/office/drawing/2014/main" id="{DBE88813-7A5A-DE1A-6B78-2C47EC2D6325}"/>
              </a:ext>
            </a:extLst>
          </p:cNvPr>
          <p:cNvPicPr>
            <a:picLocks noChangeAspect="1"/>
          </p:cNvPicPr>
          <p:nvPr/>
        </p:nvPicPr>
        <p:blipFill>
          <a:blip r:embed="rId6"/>
          <a:stretch>
            <a:fillRect/>
          </a:stretch>
        </p:blipFill>
        <p:spPr>
          <a:xfrm>
            <a:off x="358040" y="1399972"/>
            <a:ext cx="3763050" cy="3560647"/>
          </a:xfrm>
          <a:prstGeom prst="rect">
            <a:avLst/>
          </a:prstGeom>
        </p:spPr>
      </p:pic>
    </p:spTree>
    <p:extLst>
      <p:ext uri="{BB962C8B-B14F-4D97-AF65-F5344CB8AC3E}">
        <p14:creationId xmlns:p14="http://schemas.microsoft.com/office/powerpoint/2010/main" val="37761516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781B3A4-3122-2F5A-A70F-9E3DA0244880}"/>
              </a:ext>
            </a:extLst>
          </p:cNvPr>
          <p:cNvPicPr>
            <a:picLocks noChangeAspect="1"/>
          </p:cNvPicPr>
          <p:nvPr/>
        </p:nvPicPr>
        <p:blipFill>
          <a:blip r:embed="rId3">
            <a:alphaModFix amt="18000"/>
            <a:extLst>
              <a:ext uri="{BEBA8EAE-BF5A-486C-A8C5-ECC9F3942E4B}">
                <a14:imgProps xmlns:a14="http://schemas.microsoft.com/office/drawing/2010/main">
                  <a14:imgLayer r:embed="rId4">
                    <a14:imgEffect>
                      <a14:sharpenSoften amount="-1000"/>
                    </a14:imgEffect>
                  </a14:imgLayer>
                </a14:imgProps>
              </a:ext>
            </a:extLst>
          </a:blip>
          <a:stretch>
            <a:fillRect/>
          </a:stretch>
        </p:blipFill>
        <p:spPr>
          <a:xfrm>
            <a:off x="0" y="-6927"/>
            <a:ext cx="9144000" cy="5157353"/>
          </a:xfrm>
          <a:prstGeom prst="rect">
            <a:avLst/>
          </a:prstGeom>
          <a:effectLst>
            <a:reflection endPos="0" dist="50800" dir="5400000" sy="-100000" algn="bl" rotWithShape="0"/>
          </a:effectLst>
        </p:spPr>
      </p:pic>
      <p:sp>
        <p:nvSpPr>
          <p:cNvPr id="2" name="Text 0"/>
          <p:cNvSpPr/>
          <p:nvPr/>
        </p:nvSpPr>
        <p:spPr>
          <a:xfrm>
            <a:off x="274320" y="91440"/>
            <a:ext cx="8595360" cy="457200"/>
          </a:xfrm>
          <a:prstGeom prst="rect">
            <a:avLst/>
          </a:prstGeom>
          <a:noFill/>
          <a:ln/>
        </p:spPr>
        <p:txBody>
          <a:bodyPr wrap="square" lIns="0" tIns="0" rIns="0" bIns="0" rtlCol="0" anchor="ctr"/>
          <a:lstStyle/>
          <a:p>
            <a:pPr marL="0" indent="0" algn="ctr">
              <a:buNone/>
            </a:pPr>
            <a:endParaRPr lang="en-US" sz="2200" dirty="0"/>
          </a:p>
        </p:txBody>
      </p:sp>
      <p:sp>
        <p:nvSpPr>
          <p:cNvPr id="3" name="Text 1"/>
          <p:cNvSpPr/>
          <p:nvPr/>
        </p:nvSpPr>
        <p:spPr>
          <a:xfrm>
            <a:off x="274319" y="736875"/>
            <a:ext cx="8595360" cy="256032"/>
          </a:xfrm>
          <a:prstGeom prst="rect">
            <a:avLst/>
          </a:prstGeom>
          <a:noFill/>
          <a:ln/>
        </p:spPr>
        <p:txBody>
          <a:bodyPr wrap="square" lIns="0" tIns="0" rIns="0" bIns="0" rtlCol="0" anchor="ctr"/>
          <a:lstStyle/>
          <a:p>
            <a:pPr marL="0" indent="0" algn="ctr">
              <a:buNone/>
            </a:pPr>
            <a:r>
              <a:rPr lang="en-US" sz="1100" i="1" dirty="0">
                <a:solidFill>
                  <a:schemeClr val="bg1"/>
                </a:solidFill>
                <a:latin typeface="Calibri" pitchFamily="34" charset="0"/>
                <a:ea typeface="Calibri" pitchFamily="34" charset="-122"/>
                <a:cs typeface="Calibri" pitchFamily="34" charset="-120"/>
              </a:rPr>
              <a:t>Scan-based procedural fragment shader  ·  largely combinational  ·  no CPU  ·  10 MHz clock</a:t>
            </a:r>
            <a:endParaRPr lang="en-US" sz="1100" dirty="0">
              <a:solidFill>
                <a:schemeClr val="bg1"/>
              </a:solidFill>
            </a:endParaRPr>
          </a:p>
        </p:txBody>
      </p:sp>
      <p:sp>
        <p:nvSpPr>
          <p:cNvPr id="9" name="Text 0">
            <a:extLst>
              <a:ext uri="{FF2B5EF4-FFF2-40B4-BE49-F238E27FC236}">
                <a16:creationId xmlns:a16="http://schemas.microsoft.com/office/drawing/2014/main" id="{696E1D05-39F6-E7FA-A379-73A0EA41A6C2}"/>
              </a:ext>
            </a:extLst>
          </p:cNvPr>
          <p:cNvSpPr/>
          <p:nvPr/>
        </p:nvSpPr>
        <p:spPr>
          <a:xfrm>
            <a:off x="365760" y="274320"/>
            <a:ext cx="8412480" cy="54864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Architecture Block Diagram</a:t>
            </a:r>
            <a:endParaRPr lang="en-US" sz="3600" dirty="0"/>
          </a:p>
        </p:txBody>
      </p:sp>
      <p:sp>
        <p:nvSpPr>
          <p:cNvPr id="10" name="Shape 1">
            <a:extLst>
              <a:ext uri="{FF2B5EF4-FFF2-40B4-BE49-F238E27FC236}">
                <a16:creationId xmlns:a16="http://schemas.microsoft.com/office/drawing/2014/main" id="{C5EF6DDB-DEAD-B5E9-40BC-E6B1BF0BD6AB}"/>
              </a:ext>
            </a:extLst>
          </p:cNvPr>
          <p:cNvSpPr/>
          <p:nvPr/>
        </p:nvSpPr>
        <p:spPr>
          <a:xfrm>
            <a:off x="365760" y="853715"/>
            <a:ext cx="822960" cy="54864"/>
          </a:xfrm>
          <a:prstGeom prst="rect">
            <a:avLst/>
          </a:prstGeom>
          <a:solidFill>
            <a:srgbClr val="00C8FF"/>
          </a:solidFill>
          <a:ln w="12700">
            <a:solidFill>
              <a:srgbClr val="00C8FF"/>
            </a:solidFill>
            <a:prstDash val="solid"/>
          </a:ln>
        </p:spPr>
        <p:txBody>
          <a:bodyPr/>
          <a:lstStyle/>
          <a:p>
            <a:endParaRPr lang="en-US"/>
          </a:p>
        </p:txBody>
      </p:sp>
      <p:pic>
        <p:nvPicPr>
          <p:cNvPr id="7" name="Picture 6" descr="A screenshot of a computer  AI-generated content may be incorrect.">
            <a:extLst>
              <a:ext uri="{FF2B5EF4-FFF2-40B4-BE49-F238E27FC236}">
                <a16:creationId xmlns:a16="http://schemas.microsoft.com/office/drawing/2014/main" id="{746598AE-2A02-3732-DA0B-C4DBFD65884F}"/>
              </a:ext>
            </a:extLst>
          </p:cNvPr>
          <p:cNvPicPr>
            <a:picLocks noChangeAspect="1"/>
          </p:cNvPicPr>
          <p:nvPr/>
        </p:nvPicPr>
        <p:blipFill>
          <a:blip r:embed="rId5"/>
          <a:stretch>
            <a:fillRect/>
          </a:stretch>
        </p:blipFill>
        <p:spPr>
          <a:xfrm>
            <a:off x="0" y="966978"/>
            <a:ext cx="9144000" cy="4170172"/>
          </a:xfrm>
          <a:prstGeom prst="rect">
            <a:avLst/>
          </a:prstGeom>
        </p:spPr>
      </p:pic>
      <p:sp>
        <p:nvSpPr>
          <p:cNvPr id="900" name="Header_5"/>
          <p:cNvSpPr txBox="1"/>
          <p:nvPr/>
        </p:nvSpPr>
        <p:spPr>
          <a:xfrm>
            <a:off x="3200400" y="76200"/>
            <a:ext cx="5715600" cy="304800"/>
          </a:xfrm>
          <a:prstGeom prst="rect">
            <a:avLst/>
          </a:prstGeom>
          <a:noFill/>
        </p:spPr>
        <p:txBody>
          <a:bodyPr wrap="square" lIns="0" tIns="0" rIns="0" bIns="0" rtlCol="0" anchor="ctr"/>
          <a:lstStyle/>
          <a:p>
            <a:pPr marL="0" indent="0" algn="r">
              <a:buNone/>
            </a:pPr>
            <a:r>
              <a:rPr lang="en-US" sz="900" dirty="0">
                <a:solidFill>
                  <a:srgbClr val="888888"/>
                </a:solidFill>
                <a:latin typeface="Calibri" pitchFamily="34" charset="0"/>
              </a:rPr>
              <a:t>Scan-Based Procedural Fragment Shader ASIC</a:t>
            </a:r>
            <a:endParaRPr lang="en-US" sz="900" dirty="0"/>
          </a:p>
        </p:txBody>
      </p:sp>
      <p:sp>
        <p:nvSpPr>
          <p:cNvPr id="901" name="SlideNum_5"/>
          <p:cNvSpPr txBox="1"/>
          <p:nvPr/>
        </p:nvSpPr>
        <p:spPr>
          <a:xfrm>
            <a:off x="228600" y="76200"/>
            <a:ext cx="914400" cy="304800"/>
          </a:xfrm>
          <a:prstGeom prst="rect">
            <a:avLst/>
          </a:prstGeom>
          <a:noFill/>
        </p:spPr>
        <p:txBody>
          <a:bodyPr wrap="square" lIns="0" tIns="0" rIns="0" bIns="0" rtlCol="0" anchor="ctr"/>
          <a:lstStyle/>
          <a:p>
            <a:pPr marL="0" indent="0" algn="l">
              <a:buNone/>
            </a:pPr>
            <a:r>
              <a:rPr lang="en-US" sz="900" dirty="0">
                <a:solidFill>
                  <a:srgbClr val="888888"/>
                </a:solidFill>
                <a:latin typeface="Calibri" pitchFamily="34" charset="0"/>
              </a:rPr>
              <a:t>5 / 10</a:t>
            </a:r>
            <a:endParaRPr lang="en-US" sz="900" dirty="0"/>
          </a:p>
        </p:txBody>
      </p:sp>
      <p:sp>
        <p:nvSpPr>
          <p:cNvPr id="950" name="TitleBar_5"/>
          <p:cNvSpPr/>
          <p:nvPr/>
        </p:nvSpPr>
        <p:spPr>
          <a:xfrm>
            <a:off x="365760" y="853715"/>
            <a:ext cx="822960" cy="54864"/>
          </a:xfrm>
          <a:prstGeom prst="rect">
            <a:avLst/>
          </a:prstGeom>
          <a:solidFill>
            <a:srgbClr val="00C8FF"/>
          </a:solidFill>
          <a:ln w="12700">
            <a:solidFill>
              <a:srgbClr val="00C8FF"/>
            </a:solidFill>
            <a:prstDash val="solid"/>
          </a:ln>
        </p:spPr>
        <p:txBody>
          <a:bodyPr/>
          <a:lstStyle/>
          <a:p>
            <a:endParaRPr lang="en-US"/>
          </a:p>
        </p:txBody>
      </p:sp>
      <p:cxnSp>
        <p:nvCxnSpPr>
          <p:cNvPr id="6" name="Straight Connector 5">
            <a:extLst>
              <a:ext uri="{FF2B5EF4-FFF2-40B4-BE49-F238E27FC236}">
                <a16:creationId xmlns:a16="http://schemas.microsoft.com/office/drawing/2014/main" id="{79AA1580-0566-D146-1556-0FBD022A9E40}"/>
              </a:ext>
            </a:extLst>
          </p:cNvPr>
          <p:cNvCxnSpPr/>
          <p:nvPr/>
        </p:nvCxnSpPr>
        <p:spPr>
          <a:xfrm>
            <a:off x="0" y="-6927"/>
            <a:ext cx="9260840" cy="13874"/>
          </a:xfrm>
          <a:prstGeom prst="line">
            <a:avLst/>
          </a:prstGeom>
          <a:ln w="76200">
            <a:solidFill>
              <a:srgbClr val="7B61FF"/>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BB93EBD2-2C1C-8EB9-D88A-04301F5E800A}"/>
              </a:ext>
            </a:extLst>
          </p:cNvPr>
          <p:cNvSpPr/>
          <p:nvPr/>
        </p:nvSpPr>
        <p:spPr>
          <a:xfrm>
            <a:off x="777240" y="2190739"/>
            <a:ext cx="352425" cy="177038"/>
          </a:xfrm>
          <a:prstGeom prst="rect">
            <a:avLst/>
          </a:prstGeom>
          <a:solidFill>
            <a:srgbClr val="00091C"/>
          </a:solidFill>
          <a:ln>
            <a:noFill/>
          </a:ln>
        </p:spPr>
        <p:style>
          <a:lnRef idx="2">
            <a:schemeClr val="accent1">
              <a:shade val="15000"/>
            </a:schemeClr>
          </a:lnRef>
          <a:fillRef idx="1">
            <a:schemeClr val="accent1"/>
          </a:fillRef>
          <a:effectRef idx="0">
            <a:schemeClr val="accent1"/>
          </a:effectRef>
          <a:fontRef idx="minor">
            <a:schemeClr val="lt1"/>
          </a:fontRef>
        </p:style>
        <p:txBody>
          <a:bodyPr lIns="45720" rtlCol="0" anchor="ctr"/>
          <a:lstStyle/>
          <a:p>
            <a:r>
              <a:rPr lang="en-US" sz="800" dirty="0" err="1">
                <a:solidFill>
                  <a:schemeClr val="bg2"/>
                </a:solidFill>
              </a:rPr>
              <a:t>clk</a:t>
            </a:r>
            <a:endParaRPr lang="en-US" sz="800" dirty="0">
              <a:solidFill>
                <a:schemeClr val="bg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0D0D0D"/>
        </a:solidFill>
        <a:effectLst/>
      </p:bgPr>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BD1CFCC5-092A-9707-E041-0F0A6A5C0C36}"/>
              </a:ext>
            </a:extLst>
          </p:cNvPr>
          <p:cNvPicPr>
            <a:picLocks noChangeAspect="1"/>
          </p:cNvPicPr>
          <p:nvPr/>
        </p:nvPicPr>
        <p:blipFill>
          <a:blip r:embed="rId3">
            <a:alphaModFix amt="30000"/>
            <a:extLst>
              <a:ext uri="{BEBA8EAE-BF5A-486C-A8C5-ECC9F3942E4B}">
                <a14:imgProps xmlns:a14="http://schemas.microsoft.com/office/drawing/2010/main">
                  <a14:imgLayer r:embed="rId4">
                    <a14:imgEffect>
                      <a14:sharpenSoften amount="-1000"/>
                    </a14:imgEffect>
                  </a14:imgLayer>
                </a14:imgProps>
              </a:ext>
            </a:extLst>
          </a:blip>
          <a:stretch>
            <a:fillRect/>
          </a:stretch>
        </p:blipFill>
        <p:spPr>
          <a:xfrm>
            <a:off x="0" y="0"/>
            <a:ext cx="9144000" cy="5143499"/>
          </a:xfrm>
          <a:prstGeom prst="rect">
            <a:avLst/>
          </a:prstGeom>
          <a:effectLst>
            <a:reflection endPos="0" dist="50800" dir="5400000" sy="-100000" algn="bl" rotWithShape="0"/>
          </a:effectLst>
        </p:spPr>
      </p:pic>
      <p:sp>
        <p:nvSpPr>
          <p:cNvPr id="2" name="Text 0"/>
          <p:cNvSpPr/>
          <p:nvPr/>
        </p:nvSpPr>
        <p:spPr>
          <a:xfrm>
            <a:off x="365760" y="274320"/>
            <a:ext cx="8412480" cy="54864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Results</a:t>
            </a:r>
            <a:endParaRPr lang="en-US" sz="3600" dirty="0"/>
          </a:p>
        </p:txBody>
      </p:sp>
      <p:sp>
        <p:nvSpPr>
          <p:cNvPr id="4" name="Text 2"/>
          <p:cNvSpPr/>
          <p:nvPr/>
        </p:nvSpPr>
        <p:spPr>
          <a:xfrm>
            <a:off x="137160" y="914400"/>
            <a:ext cx="1005840" cy="274320"/>
          </a:xfrm>
          <a:prstGeom prst="rect">
            <a:avLst/>
          </a:prstGeom>
          <a:noFill/>
          <a:ln/>
        </p:spPr>
        <p:txBody>
          <a:bodyPr wrap="square" rtlCol="0" anchor="ctr"/>
          <a:lstStyle/>
          <a:p>
            <a:pPr marL="0" indent="0" algn="ctr">
              <a:buNone/>
            </a:pPr>
            <a:r>
              <a:rPr lang="en-US" sz="1000" dirty="0">
                <a:solidFill>
                  <a:srgbClr val="888888"/>
                </a:solidFill>
                <a:latin typeface="Calibri" pitchFamily="34" charset="0"/>
                <a:ea typeface="Calibri" pitchFamily="34" charset="-122"/>
                <a:cs typeface="Calibri" pitchFamily="34" charset="-120"/>
              </a:rPr>
              <a:t>Input</a:t>
            </a:r>
            <a:endParaRPr lang="en-US" sz="1000" dirty="0"/>
          </a:p>
        </p:txBody>
      </p:sp>
      <p:pic>
        <p:nvPicPr>
          <p:cNvPr id="5" name="Image 0" descr="/home/claude/1778545362620_image.png"/>
          <p:cNvPicPr>
            <a:picLocks noChangeAspect="1"/>
          </p:cNvPicPr>
          <p:nvPr/>
        </p:nvPicPr>
        <p:blipFill>
          <a:blip r:embed="rId5"/>
          <a:stretch>
            <a:fillRect/>
          </a:stretch>
        </p:blipFill>
        <p:spPr>
          <a:xfrm>
            <a:off x="137160" y="1188720"/>
            <a:ext cx="1005840" cy="1005840"/>
          </a:xfrm>
          <a:prstGeom prst="rect">
            <a:avLst/>
          </a:prstGeom>
        </p:spPr>
      </p:pic>
      <p:sp>
        <p:nvSpPr>
          <p:cNvPr id="6" name="Shape 3"/>
          <p:cNvSpPr/>
          <p:nvPr/>
        </p:nvSpPr>
        <p:spPr>
          <a:xfrm>
            <a:off x="1316736" y="813816"/>
            <a:ext cx="3310128" cy="1847088"/>
          </a:xfrm>
          <a:prstGeom prst="rect">
            <a:avLst/>
          </a:prstGeom>
          <a:solidFill>
            <a:srgbClr val="2A2A2A"/>
          </a:solidFill>
          <a:ln w="12700">
            <a:solidFill>
              <a:srgbClr val="7B61FF"/>
            </a:solidFill>
            <a:prstDash val="solid"/>
          </a:ln>
        </p:spPr>
        <p:txBody>
          <a:bodyPr/>
          <a:lstStyle/>
          <a:p>
            <a:endParaRPr lang="en-US"/>
          </a:p>
        </p:txBody>
      </p:sp>
      <p:pic>
        <p:nvPicPr>
          <p:cNvPr id="7" name="Image 1" descr="/home/claude/1778545349811_image.png"/>
          <p:cNvPicPr>
            <a:picLocks noChangeAspect="1"/>
          </p:cNvPicPr>
          <p:nvPr/>
        </p:nvPicPr>
        <p:blipFill>
          <a:blip r:embed="rId6"/>
          <a:stretch>
            <a:fillRect/>
          </a:stretch>
        </p:blipFill>
        <p:spPr>
          <a:xfrm>
            <a:off x="1371600" y="868680"/>
            <a:ext cx="3200400" cy="1737360"/>
          </a:xfrm>
          <a:prstGeom prst="rect">
            <a:avLst/>
          </a:prstGeom>
        </p:spPr>
      </p:pic>
      <p:sp>
        <p:nvSpPr>
          <p:cNvPr id="8" name="Text 4"/>
          <p:cNvSpPr/>
          <p:nvPr/>
        </p:nvSpPr>
        <p:spPr>
          <a:xfrm>
            <a:off x="1371600" y="2642616"/>
            <a:ext cx="3200400" cy="256032"/>
          </a:xfrm>
          <a:prstGeom prst="rect">
            <a:avLst/>
          </a:prstGeom>
          <a:noFill/>
          <a:ln/>
        </p:spPr>
        <p:txBody>
          <a:bodyPr wrap="square" lIns="0" tIns="0" rIns="0" bIns="0" rtlCol="0" anchor="ctr"/>
          <a:lstStyle/>
          <a:p>
            <a:pPr marL="0" indent="0" algn="ctr">
              <a:buNone/>
            </a:pPr>
            <a:r>
              <a:rPr lang="en-US" sz="1000" dirty="0">
                <a:solidFill>
                  <a:srgbClr val="888888"/>
                </a:solidFill>
                <a:latin typeface="Calibri" pitchFamily="34" charset="0"/>
                <a:ea typeface="Calibri" pitchFamily="34" charset="-122"/>
                <a:cs typeface="Calibri" pitchFamily="34" charset="-120"/>
              </a:rPr>
              <a:t>Mode 0 — Top Light</a:t>
            </a:r>
            <a:endParaRPr lang="en-US" sz="1000" dirty="0"/>
          </a:p>
        </p:txBody>
      </p:sp>
      <p:sp>
        <p:nvSpPr>
          <p:cNvPr id="9" name="Shape 5"/>
          <p:cNvSpPr/>
          <p:nvPr/>
        </p:nvSpPr>
        <p:spPr>
          <a:xfrm>
            <a:off x="4700016" y="813816"/>
            <a:ext cx="3310128" cy="1847088"/>
          </a:xfrm>
          <a:prstGeom prst="rect">
            <a:avLst/>
          </a:prstGeom>
          <a:solidFill>
            <a:srgbClr val="2A2A2A"/>
          </a:solidFill>
          <a:ln w="12700">
            <a:solidFill>
              <a:srgbClr val="7B61FF"/>
            </a:solidFill>
            <a:prstDash val="solid"/>
          </a:ln>
        </p:spPr>
        <p:txBody>
          <a:bodyPr/>
          <a:lstStyle/>
          <a:p>
            <a:endParaRPr lang="en-US"/>
          </a:p>
        </p:txBody>
      </p:sp>
      <p:pic>
        <p:nvPicPr>
          <p:cNvPr id="10" name="Image 2" descr="/home/claude/1778545393689_image.png"/>
          <p:cNvPicPr>
            <a:picLocks noChangeAspect="1"/>
          </p:cNvPicPr>
          <p:nvPr/>
        </p:nvPicPr>
        <p:blipFill>
          <a:blip r:embed="rId7"/>
          <a:stretch>
            <a:fillRect/>
          </a:stretch>
        </p:blipFill>
        <p:spPr>
          <a:xfrm>
            <a:off x="4754880" y="868680"/>
            <a:ext cx="3200400" cy="1737360"/>
          </a:xfrm>
          <a:prstGeom prst="rect">
            <a:avLst/>
          </a:prstGeom>
        </p:spPr>
      </p:pic>
      <p:sp>
        <p:nvSpPr>
          <p:cNvPr id="11" name="Text 6"/>
          <p:cNvSpPr/>
          <p:nvPr/>
        </p:nvSpPr>
        <p:spPr>
          <a:xfrm>
            <a:off x="4754880" y="2642616"/>
            <a:ext cx="3200400" cy="256032"/>
          </a:xfrm>
          <a:prstGeom prst="rect">
            <a:avLst/>
          </a:prstGeom>
          <a:noFill/>
          <a:ln/>
        </p:spPr>
        <p:txBody>
          <a:bodyPr wrap="square" lIns="0" tIns="0" rIns="0" bIns="0" rtlCol="0" anchor="ctr"/>
          <a:lstStyle/>
          <a:p>
            <a:pPr marL="0" indent="0" algn="ctr">
              <a:buNone/>
            </a:pPr>
            <a:r>
              <a:rPr lang="en-US" sz="1000" dirty="0">
                <a:solidFill>
                  <a:srgbClr val="888888"/>
                </a:solidFill>
                <a:latin typeface="Calibri" pitchFamily="34" charset="0"/>
                <a:ea typeface="Calibri" pitchFamily="34" charset="-122"/>
                <a:cs typeface="Calibri" pitchFamily="34" charset="-120"/>
              </a:rPr>
              <a:t>Mode 1 — Bottom-Right Light</a:t>
            </a:r>
            <a:endParaRPr lang="en-US" sz="1000" dirty="0"/>
          </a:p>
        </p:txBody>
      </p:sp>
      <p:sp>
        <p:nvSpPr>
          <p:cNvPr id="12" name="Shape 7"/>
          <p:cNvSpPr/>
          <p:nvPr/>
        </p:nvSpPr>
        <p:spPr>
          <a:xfrm>
            <a:off x="1316736" y="2962656"/>
            <a:ext cx="3310128" cy="1847088"/>
          </a:xfrm>
          <a:prstGeom prst="rect">
            <a:avLst/>
          </a:prstGeom>
          <a:solidFill>
            <a:srgbClr val="2A2A2A"/>
          </a:solidFill>
          <a:ln w="12700">
            <a:solidFill>
              <a:srgbClr val="7B61FF"/>
            </a:solidFill>
            <a:prstDash val="solid"/>
          </a:ln>
        </p:spPr>
        <p:txBody>
          <a:bodyPr/>
          <a:lstStyle/>
          <a:p>
            <a:endParaRPr lang="en-US"/>
          </a:p>
        </p:txBody>
      </p:sp>
      <p:pic>
        <p:nvPicPr>
          <p:cNvPr id="13" name="Image 3" descr="/home/claude/1778545401898_image.png"/>
          <p:cNvPicPr>
            <a:picLocks noChangeAspect="1"/>
          </p:cNvPicPr>
          <p:nvPr/>
        </p:nvPicPr>
        <p:blipFill>
          <a:blip r:embed="rId8"/>
          <a:stretch>
            <a:fillRect/>
          </a:stretch>
        </p:blipFill>
        <p:spPr>
          <a:xfrm>
            <a:off x="1371600" y="3017520"/>
            <a:ext cx="3200400" cy="1737360"/>
          </a:xfrm>
          <a:prstGeom prst="rect">
            <a:avLst/>
          </a:prstGeom>
        </p:spPr>
      </p:pic>
      <p:sp>
        <p:nvSpPr>
          <p:cNvPr id="14" name="Text 8"/>
          <p:cNvSpPr/>
          <p:nvPr/>
        </p:nvSpPr>
        <p:spPr>
          <a:xfrm>
            <a:off x="1371600" y="4791456"/>
            <a:ext cx="3200400" cy="256032"/>
          </a:xfrm>
          <a:prstGeom prst="rect">
            <a:avLst/>
          </a:prstGeom>
          <a:noFill/>
          <a:ln/>
        </p:spPr>
        <p:txBody>
          <a:bodyPr wrap="square" lIns="0" tIns="0" rIns="0" bIns="0" rtlCol="0" anchor="ctr"/>
          <a:lstStyle/>
          <a:p>
            <a:pPr marL="0" indent="0" algn="ctr">
              <a:buNone/>
            </a:pPr>
            <a:r>
              <a:rPr lang="en-US" sz="1000" dirty="0">
                <a:solidFill>
                  <a:srgbClr val="888888"/>
                </a:solidFill>
                <a:latin typeface="Calibri" pitchFamily="34" charset="0"/>
                <a:ea typeface="Calibri" pitchFamily="34" charset="-122"/>
                <a:cs typeface="Calibri" pitchFamily="34" charset="-120"/>
              </a:rPr>
              <a:t>Mode 2 — Extreme Spotlight</a:t>
            </a:r>
            <a:endParaRPr lang="en-US" sz="1000" dirty="0"/>
          </a:p>
        </p:txBody>
      </p:sp>
      <p:sp>
        <p:nvSpPr>
          <p:cNvPr id="15" name="Shape 9"/>
          <p:cNvSpPr/>
          <p:nvPr/>
        </p:nvSpPr>
        <p:spPr>
          <a:xfrm>
            <a:off x="4700016" y="2962656"/>
            <a:ext cx="3310128" cy="1847088"/>
          </a:xfrm>
          <a:prstGeom prst="rect">
            <a:avLst/>
          </a:prstGeom>
          <a:solidFill>
            <a:srgbClr val="2A2A2A"/>
          </a:solidFill>
          <a:ln w="12700">
            <a:solidFill>
              <a:srgbClr val="7B61FF"/>
            </a:solidFill>
            <a:prstDash val="solid"/>
          </a:ln>
        </p:spPr>
        <p:txBody>
          <a:bodyPr/>
          <a:lstStyle/>
          <a:p>
            <a:endParaRPr lang="en-US"/>
          </a:p>
        </p:txBody>
      </p:sp>
      <p:pic>
        <p:nvPicPr>
          <p:cNvPr id="16" name="Image 4" descr="/home/claude/1778545408952_image.png"/>
          <p:cNvPicPr>
            <a:picLocks noChangeAspect="1"/>
          </p:cNvPicPr>
          <p:nvPr/>
        </p:nvPicPr>
        <p:blipFill>
          <a:blip r:embed="rId9"/>
          <a:stretch>
            <a:fillRect/>
          </a:stretch>
        </p:blipFill>
        <p:spPr>
          <a:xfrm>
            <a:off x="4754880" y="3017520"/>
            <a:ext cx="3200400" cy="1737360"/>
          </a:xfrm>
          <a:prstGeom prst="rect">
            <a:avLst/>
          </a:prstGeom>
        </p:spPr>
      </p:pic>
      <p:sp>
        <p:nvSpPr>
          <p:cNvPr id="17" name="Text 10"/>
          <p:cNvSpPr/>
          <p:nvPr/>
        </p:nvSpPr>
        <p:spPr>
          <a:xfrm>
            <a:off x="4754880" y="4791456"/>
            <a:ext cx="3200400" cy="256032"/>
          </a:xfrm>
          <a:prstGeom prst="rect">
            <a:avLst/>
          </a:prstGeom>
          <a:noFill/>
          <a:ln/>
        </p:spPr>
        <p:txBody>
          <a:bodyPr wrap="square" lIns="0" tIns="0" rIns="0" bIns="0" rtlCol="0" anchor="ctr"/>
          <a:lstStyle/>
          <a:p>
            <a:pPr marL="0" indent="0" algn="ctr">
              <a:buNone/>
            </a:pPr>
            <a:r>
              <a:rPr lang="en-US" sz="1000" dirty="0">
                <a:solidFill>
                  <a:srgbClr val="888888"/>
                </a:solidFill>
                <a:latin typeface="Calibri" pitchFamily="34" charset="0"/>
                <a:ea typeface="Calibri" pitchFamily="34" charset="-122"/>
                <a:cs typeface="Calibri" pitchFamily="34" charset="-120"/>
              </a:rPr>
              <a:t>Mode 3 — Center</a:t>
            </a:r>
            <a:endParaRPr lang="en-US" sz="1000" dirty="0"/>
          </a:p>
        </p:txBody>
      </p:sp>
      <p:sp>
        <p:nvSpPr>
          <p:cNvPr id="900" name="Header_6"/>
          <p:cNvSpPr txBox="1"/>
          <p:nvPr/>
        </p:nvSpPr>
        <p:spPr>
          <a:xfrm>
            <a:off x="3200400" y="76200"/>
            <a:ext cx="5715600" cy="304800"/>
          </a:xfrm>
          <a:prstGeom prst="rect">
            <a:avLst/>
          </a:prstGeom>
          <a:noFill/>
        </p:spPr>
        <p:txBody>
          <a:bodyPr wrap="square" lIns="0" tIns="0" rIns="0" bIns="0" rtlCol="0" anchor="ctr"/>
          <a:lstStyle/>
          <a:p>
            <a:pPr marL="0" indent="0" algn="r">
              <a:buNone/>
            </a:pPr>
            <a:r>
              <a:rPr lang="en-US" sz="900" dirty="0">
                <a:solidFill>
                  <a:srgbClr val="888888"/>
                </a:solidFill>
                <a:latin typeface="Calibri" pitchFamily="34" charset="0"/>
              </a:rPr>
              <a:t>Scan-Based Procedural Fragment Shader ASIC</a:t>
            </a:r>
            <a:endParaRPr lang="en-US" sz="900" dirty="0"/>
          </a:p>
        </p:txBody>
      </p:sp>
      <p:sp>
        <p:nvSpPr>
          <p:cNvPr id="901" name="SlideNum_6"/>
          <p:cNvSpPr txBox="1"/>
          <p:nvPr/>
        </p:nvSpPr>
        <p:spPr>
          <a:xfrm>
            <a:off x="228600" y="76200"/>
            <a:ext cx="914400" cy="304800"/>
          </a:xfrm>
          <a:prstGeom prst="rect">
            <a:avLst/>
          </a:prstGeom>
          <a:noFill/>
        </p:spPr>
        <p:txBody>
          <a:bodyPr wrap="square" lIns="0" tIns="0" rIns="0" bIns="0" rtlCol="0" anchor="ctr"/>
          <a:lstStyle/>
          <a:p>
            <a:pPr marL="0" indent="0" algn="l">
              <a:buNone/>
            </a:pPr>
            <a:r>
              <a:rPr lang="en-US" sz="900" dirty="0">
                <a:solidFill>
                  <a:srgbClr val="888888"/>
                </a:solidFill>
                <a:latin typeface="Calibri" pitchFamily="34" charset="0"/>
              </a:rPr>
              <a:t>6 / 10</a:t>
            </a:r>
            <a:endParaRPr lang="en-US" sz="900" dirty="0"/>
          </a:p>
        </p:txBody>
      </p:sp>
      <p:cxnSp>
        <p:nvCxnSpPr>
          <p:cNvPr id="18" name="Straight Connector 17">
            <a:extLst>
              <a:ext uri="{FF2B5EF4-FFF2-40B4-BE49-F238E27FC236}">
                <a16:creationId xmlns:a16="http://schemas.microsoft.com/office/drawing/2014/main" id="{595BAEA4-7B54-EA80-4635-F0F2F31566E2}"/>
              </a:ext>
            </a:extLst>
          </p:cNvPr>
          <p:cNvCxnSpPr/>
          <p:nvPr/>
        </p:nvCxnSpPr>
        <p:spPr>
          <a:xfrm>
            <a:off x="0" y="0"/>
            <a:ext cx="9260840" cy="13874"/>
          </a:xfrm>
          <a:prstGeom prst="line">
            <a:avLst/>
          </a:prstGeom>
          <a:ln w="76200">
            <a:solidFill>
              <a:srgbClr val="7B61FF"/>
            </a:solidFill>
          </a:ln>
        </p:spPr>
        <p:style>
          <a:lnRef idx="1">
            <a:schemeClr val="accent1"/>
          </a:lnRef>
          <a:fillRef idx="0">
            <a:schemeClr val="accent1"/>
          </a:fillRef>
          <a:effectRef idx="0">
            <a:schemeClr val="accent1"/>
          </a:effectRef>
          <a:fontRef idx="minor">
            <a:schemeClr val="tx1"/>
          </a:fontRef>
        </p:style>
      </p:cxnSp>
      <p:sp>
        <p:nvSpPr>
          <p:cNvPr id="950" name="TitleBar_6"/>
          <p:cNvSpPr/>
          <p:nvPr/>
        </p:nvSpPr>
        <p:spPr>
          <a:xfrm>
            <a:off x="365760" y="853715"/>
            <a:ext cx="822960" cy="54864"/>
          </a:xfrm>
          <a:prstGeom prst="rect">
            <a:avLst/>
          </a:prstGeom>
          <a:solidFill>
            <a:srgbClr val="00C8FF"/>
          </a:solidFill>
          <a:ln w="12700">
            <a:solidFill>
              <a:srgbClr val="00C8FF"/>
            </a:solidFill>
            <a:prstDash val="solid"/>
          </a:ln>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F2DE6-071D-2261-FA01-F8FE2264A088}"/>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E657B9A0-D926-EEC3-8E83-52C6877EA71C}"/>
              </a:ext>
            </a:extLst>
          </p:cNvPr>
          <p:cNvPicPr>
            <a:picLocks noChangeAspect="1"/>
          </p:cNvPicPr>
          <p:nvPr/>
        </p:nvPicPr>
        <p:blipFill>
          <a:blip r:embed="rId3">
            <a:alphaModFix amt="17000"/>
          </a:blip>
          <a:stretch>
            <a:fillRect/>
          </a:stretch>
        </p:blipFill>
        <p:spPr>
          <a:xfrm>
            <a:off x="0" y="13874"/>
            <a:ext cx="9144000" cy="5139432"/>
          </a:xfrm>
          <a:prstGeom prst="rect">
            <a:avLst/>
          </a:prstGeom>
          <a:solidFill>
            <a:schemeClr val="tx1">
              <a:lumMod val="85000"/>
              <a:lumOff val="15000"/>
            </a:schemeClr>
          </a:solidFill>
          <a:effectLst>
            <a:reflection endPos="0" dist="50800" dir="5400000" sy="-100000" algn="bl" rotWithShape="0"/>
          </a:effectLst>
        </p:spPr>
      </p:pic>
      <p:sp>
        <p:nvSpPr>
          <p:cNvPr id="19" name="Shape 3">
            <a:extLst>
              <a:ext uri="{FF2B5EF4-FFF2-40B4-BE49-F238E27FC236}">
                <a16:creationId xmlns:a16="http://schemas.microsoft.com/office/drawing/2014/main" id="{96FC0DDD-833B-A43B-9DD0-0C002B3E55C3}"/>
              </a:ext>
            </a:extLst>
          </p:cNvPr>
          <p:cNvSpPr/>
          <p:nvPr/>
        </p:nvSpPr>
        <p:spPr>
          <a:xfrm>
            <a:off x="3192534" y="1384896"/>
            <a:ext cx="2797230" cy="2651441"/>
          </a:xfrm>
          <a:prstGeom prst="rect">
            <a:avLst/>
          </a:prstGeom>
          <a:solidFill>
            <a:srgbClr val="2A2A2A"/>
          </a:solidFill>
          <a:ln w="28575">
            <a:solidFill>
              <a:srgbClr val="7B61FF"/>
            </a:solidFill>
            <a:prstDash val="solid"/>
          </a:ln>
        </p:spPr>
        <p:txBody>
          <a:bodyPr/>
          <a:lstStyle/>
          <a:p>
            <a:endParaRPr lang="en-US"/>
          </a:p>
        </p:txBody>
      </p:sp>
      <p:sp>
        <p:nvSpPr>
          <p:cNvPr id="17" name="Shape 3">
            <a:extLst>
              <a:ext uri="{FF2B5EF4-FFF2-40B4-BE49-F238E27FC236}">
                <a16:creationId xmlns:a16="http://schemas.microsoft.com/office/drawing/2014/main" id="{68EB4709-E29D-214A-8A91-B196F4176061}"/>
              </a:ext>
            </a:extLst>
          </p:cNvPr>
          <p:cNvSpPr/>
          <p:nvPr/>
        </p:nvSpPr>
        <p:spPr>
          <a:xfrm>
            <a:off x="38298" y="1389446"/>
            <a:ext cx="2797231" cy="2646891"/>
          </a:xfrm>
          <a:prstGeom prst="rect">
            <a:avLst/>
          </a:prstGeom>
          <a:solidFill>
            <a:srgbClr val="2A2A2A"/>
          </a:solidFill>
          <a:ln w="28575">
            <a:solidFill>
              <a:srgbClr val="7B61FF"/>
            </a:solidFill>
            <a:prstDash val="solid"/>
          </a:ln>
        </p:spPr>
        <p:txBody>
          <a:bodyPr/>
          <a:lstStyle/>
          <a:p>
            <a:endParaRPr lang="en-US"/>
          </a:p>
        </p:txBody>
      </p:sp>
      <p:sp>
        <p:nvSpPr>
          <p:cNvPr id="13" name="Shape 3">
            <a:extLst>
              <a:ext uri="{FF2B5EF4-FFF2-40B4-BE49-F238E27FC236}">
                <a16:creationId xmlns:a16="http://schemas.microsoft.com/office/drawing/2014/main" id="{1F027BEE-19CF-BAFE-32C0-E0F985B43DC0}"/>
              </a:ext>
            </a:extLst>
          </p:cNvPr>
          <p:cNvSpPr/>
          <p:nvPr/>
        </p:nvSpPr>
        <p:spPr>
          <a:xfrm>
            <a:off x="6308472" y="1389446"/>
            <a:ext cx="2797230" cy="2646891"/>
          </a:xfrm>
          <a:prstGeom prst="rect">
            <a:avLst/>
          </a:prstGeom>
          <a:solidFill>
            <a:srgbClr val="2A2A2A"/>
          </a:solidFill>
          <a:ln w="28575">
            <a:solidFill>
              <a:srgbClr val="7B61FF"/>
            </a:solidFill>
            <a:prstDash val="solid"/>
          </a:ln>
        </p:spPr>
        <p:txBody>
          <a:bodyPr/>
          <a:lstStyle/>
          <a:p>
            <a:endParaRPr lang="en-US"/>
          </a:p>
        </p:txBody>
      </p:sp>
      <p:cxnSp>
        <p:nvCxnSpPr>
          <p:cNvPr id="12" name="Straight Connector 11">
            <a:extLst>
              <a:ext uri="{FF2B5EF4-FFF2-40B4-BE49-F238E27FC236}">
                <a16:creationId xmlns:a16="http://schemas.microsoft.com/office/drawing/2014/main" id="{0A3FE7B4-3503-0505-0C64-FC46B133C9FA}"/>
              </a:ext>
            </a:extLst>
          </p:cNvPr>
          <p:cNvCxnSpPr/>
          <p:nvPr/>
        </p:nvCxnSpPr>
        <p:spPr>
          <a:xfrm>
            <a:off x="0" y="0"/>
            <a:ext cx="9260840" cy="13874"/>
          </a:xfrm>
          <a:prstGeom prst="line">
            <a:avLst/>
          </a:prstGeom>
          <a:ln w="76200">
            <a:solidFill>
              <a:srgbClr val="7B61FF"/>
            </a:solidFill>
          </a:ln>
        </p:spPr>
        <p:style>
          <a:lnRef idx="1">
            <a:schemeClr val="accent1"/>
          </a:lnRef>
          <a:fillRef idx="0">
            <a:schemeClr val="accent1"/>
          </a:fillRef>
          <a:effectRef idx="0">
            <a:schemeClr val="accent1"/>
          </a:effectRef>
          <a:fontRef idx="minor">
            <a:schemeClr val="tx1"/>
          </a:fontRef>
        </p:style>
      </p:cxnSp>
      <p:sp>
        <p:nvSpPr>
          <p:cNvPr id="21" name="Text 0">
            <a:extLst>
              <a:ext uri="{FF2B5EF4-FFF2-40B4-BE49-F238E27FC236}">
                <a16:creationId xmlns:a16="http://schemas.microsoft.com/office/drawing/2014/main" id="{C4C796A3-FDA1-BA98-7660-F0D58A3F4AB1}"/>
              </a:ext>
            </a:extLst>
          </p:cNvPr>
          <p:cNvSpPr/>
          <p:nvPr/>
        </p:nvSpPr>
        <p:spPr>
          <a:xfrm>
            <a:off x="365760" y="274320"/>
            <a:ext cx="8412480" cy="54864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Photo Input</a:t>
            </a:r>
            <a:endParaRPr lang="en-US" sz="3600" dirty="0"/>
          </a:p>
        </p:txBody>
      </p:sp>
      <p:cxnSp>
        <p:nvCxnSpPr>
          <p:cNvPr id="3" name="Straight Arrow Connector 2">
            <a:extLst>
              <a:ext uri="{FF2B5EF4-FFF2-40B4-BE49-F238E27FC236}">
                <a16:creationId xmlns:a16="http://schemas.microsoft.com/office/drawing/2014/main" id="{2383DE36-55F0-5478-4F7D-4BACC77DC456}"/>
              </a:ext>
            </a:extLst>
          </p:cNvPr>
          <p:cNvCxnSpPr>
            <a:cxnSpLocks/>
            <a:endCxn id="19" idx="1"/>
          </p:cNvCxnSpPr>
          <p:nvPr/>
        </p:nvCxnSpPr>
        <p:spPr>
          <a:xfrm flipV="1">
            <a:off x="2835529" y="2710617"/>
            <a:ext cx="357005" cy="6936"/>
          </a:xfrm>
          <a:prstGeom prst="straightConnector1">
            <a:avLst/>
          </a:prstGeom>
          <a:ln w="76200">
            <a:solidFill>
              <a:srgbClr val="00B0F0"/>
            </a:solidFill>
            <a:tailEnd type="triangle"/>
          </a:ln>
          <a:effectLst>
            <a:softEdge rad="12700"/>
          </a:effectLst>
          <a:scene3d>
            <a:camera prst="perspectiveRelaxedModerately"/>
            <a:lightRig rig="threePt" dir="t"/>
          </a:scene3d>
        </p:spPr>
        <p:style>
          <a:lnRef idx="1">
            <a:schemeClr val="accent1"/>
          </a:lnRef>
          <a:fillRef idx="0">
            <a:schemeClr val="accent1"/>
          </a:fillRef>
          <a:effectRef idx="0">
            <a:schemeClr val="accent1"/>
          </a:effectRef>
          <a:fontRef idx="minor">
            <a:schemeClr val="tx1"/>
          </a:fontRef>
        </p:style>
      </p:cxnSp>
      <p:cxnSp>
        <p:nvCxnSpPr>
          <p:cNvPr id="4" name="Straight Arrow Connector 3">
            <a:extLst>
              <a:ext uri="{FF2B5EF4-FFF2-40B4-BE49-F238E27FC236}">
                <a16:creationId xmlns:a16="http://schemas.microsoft.com/office/drawing/2014/main" id="{A61CB7A2-7FC7-01B3-4258-236A90804B07}"/>
              </a:ext>
            </a:extLst>
          </p:cNvPr>
          <p:cNvCxnSpPr/>
          <p:nvPr/>
        </p:nvCxnSpPr>
        <p:spPr>
          <a:xfrm>
            <a:off x="5989764" y="2717552"/>
            <a:ext cx="357005" cy="1"/>
          </a:xfrm>
          <a:prstGeom prst="straightConnector1">
            <a:avLst/>
          </a:prstGeom>
          <a:ln w="76200">
            <a:solidFill>
              <a:srgbClr val="00B0F0"/>
            </a:solidFill>
            <a:tailEnd type="triangle"/>
          </a:ln>
          <a:effectLst>
            <a:softEdge rad="12700"/>
          </a:effectLst>
          <a:scene3d>
            <a:camera prst="perspectiveRelaxedModerately"/>
            <a:lightRig rig="threePt" dir="t"/>
          </a:scene3d>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A863AE17-D288-7E4B-BABE-1CB22C9C9CAE}"/>
              </a:ext>
            </a:extLst>
          </p:cNvPr>
          <p:cNvPicPr>
            <a:picLocks noChangeAspect="1"/>
          </p:cNvPicPr>
          <p:nvPr/>
        </p:nvPicPr>
        <p:blipFill>
          <a:blip r:embed="rId4"/>
          <a:srcRect t="19862"/>
          <a:stretch>
            <a:fillRect/>
          </a:stretch>
        </p:blipFill>
        <p:spPr>
          <a:xfrm>
            <a:off x="76596" y="1439333"/>
            <a:ext cx="2722484" cy="2548467"/>
          </a:xfrm>
          <a:prstGeom prst="rect">
            <a:avLst/>
          </a:prstGeom>
        </p:spPr>
      </p:pic>
      <p:pic>
        <p:nvPicPr>
          <p:cNvPr id="11" name="Picture 10">
            <a:extLst>
              <a:ext uri="{FF2B5EF4-FFF2-40B4-BE49-F238E27FC236}">
                <a16:creationId xmlns:a16="http://schemas.microsoft.com/office/drawing/2014/main" id="{D07B80C9-FE5D-013B-18AB-922BC12C2C2F}"/>
              </a:ext>
            </a:extLst>
          </p:cNvPr>
          <p:cNvPicPr>
            <a:picLocks noChangeAspect="1"/>
          </p:cNvPicPr>
          <p:nvPr/>
        </p:nvPicPr>
        <p:blipFill>
          <a:blip r:embed="rId5"/>
          <a:srcRect t="27414" r="5" b="5"/>
          <a:stretch>
            <a:fillRect/>
          </a:stretch>
        </p:blipFill>
        <p:spPr>
          <a:xfrm>
            <a:off x="3228983" y="1439332"/>
            <a:ext cx="2722483" cy="2548467"/>
          </a:xfrm>
          <a:prstGeom prst="rect">
            <a:avLst/>
          </a:prstGeom>
        </p:spPr>
      </p:pic>
      <p:pic>
        <p:nvPicPr>
          <p:cNvPr id="15" name="Picture 14">
            <a:extLst>
              <a:ext uri="{FF2B5EF4-FFF2-40B4-BE49-F238E27FC236}">
                <a16:creationId xmlns:a16="http://schemas.microsoft.com/office/drawing/2014/main" id="{B16E4B10-502E-C87B-5BF8-F23AB070F92F}"/>
              </a:ext>
            </a:extLst>
          </p:cNvPr>
          <p:cNvPicPr>
            <a:picLocks noChangeAspect="1"/>
          </p:cNvPicPr>
          <p:nvPr/>
        </p:nvPicPr>
        <p:blipFill>
          <a:blip r:embed="rId6"/>
          <a:srcRect t="23418" r="5" b="4002"/>
          <a:stretch>
            <a:fillRect/>
          </a:stretch>
        </p:blipFill>
        <p:spPr>
          <a:xfrm>
            <a:off x="6346769" y="1439332"/>
            <a:ext cx="2720635" cy="2548468"/>
          </a:xfrm>
          <a:prstGeom prst="rect">
            <a:avLst/>
          </a:prstGeom>
        </p:spPr>
      </p:pic>
      <p:sp>
        <p:nvSpPr>
          <p:cNvPr id="23" name="Text 4">
            <a:extLst>
              <a:ext uri="{FF2B5EF4-FFF2-40B4-BE49-F238E27FC236}">
                <a16:creationId xmlns:a16="http://schemas.microsoft.com/office/drawing/2014/main" id="{DA833680-FB47-B3A0-A186-D811DBDED415}"/>
              </a:ext>
            </a:extLst>
          </p:cNvPr>
          <p:cNvSpPr/>
          <p:nvPr/>
        </p:nvSpPr>
        <p:spPr>
          <a:xfrm>
            <a:off x="-163287" y="4086224"/>
            <a:ext cx="3200400" cy="256032"/>
          </a:xfrm>
          <a:prstGeom prst="rect">
            <a:avLst/>
          </a:prstGeom>
          <a:noFill/>
          <a:ln/>
        </p:spPr>
        <p:txBody>
          <a:bodyPr wrap="square" lIns="0" tIns="0" rIns="0" bIns="0" rtlCol="0" anchor="ctr"/>
          <a:lstStyle/>
          <a:p>
            <a:pPr marL="0" indent="0" algn="ctr">
              <a:buNone/>
            </a:pPr>
            <a:r>
              <a:rPr lang="en-US" sz="1000" dirty="0">
                <a:solidFill>
                  <a:srgbClr val="888888"/>
                </a:solidFill>
                <a:latin typeface="Calibri" pitchFamily="34" charset="0"/>
                <a:ea typeface="Calibri" pitchFamily="34" charset="-122"/>
                <a:cs typeface="Calibri" pitchFamily="34" charset="-120"/>
              </a:rPr>
              <a:t>Input Image</a:t>
            </a:r>
            <a:endParaRPr lang="en-US" sz="1000" dirty="0"/>
          </a:p>
        </p:txBody>
      </p:sp>
      <p:sp>
        <p:nvSpPr>
          <p:cNvPr id="25" name="Text 4">
            <a:extLst>
              <a:ext uri="{FF2B5EF4-FFF2-40B4-BE49-F238E27FC236}">
                <a16:creationId xmlns:a16="http://schemas.microsoft.com/office/drawing/2014/main" id="{8BD0F4E7-E7A3-16CD-DA11-8436ADE4502E}"/>
              </a:ext>
            </a:extLst>
          </p:cNvPr>
          <p:cNvSpPr/>
          <p:nvPr/>
        </p:nvSpPr>
        <p:spPr>
          <a:xfrm>
            <a:off x="2990024" y="4086224"/>
            <a:ext cx="3200400" cy="256032"/>
          </a:xfrm>
          <a:prstGeom prst="rect">
            <a:avLst/>
          </a:prstGeom>
          <a:noFill/>
          <a:ln/>
        </p:spPr>
        <p:txBody>
          <a:bodyPr wrap="square" lIns="0" tIns="0" rIns="0" bIns="0" rtlCol="0" anchor="ctr"/>
          <a:lstStyle/>
          <a:p>
            <a:pPr marL="0" indent="0" algn="ctr">
              <a:buNone/>
            </a:pPr>
            <a:r>
              <a:rPr lang="en-US" sz="1000" dirty="0">
                <a:solidFill>
                  <a:srgbClr val="888888"/>
                </a:solidFill>
                <a:latin typeface="Calibri" pitchFamily="34" charset="0"/>
                <a:ea typeface="Calibri" pitchFamily="34" charset="-122"/>
                <a:cs typeface="Calibri" pitchFamily="34" charset="-120"/>
              </a:rPr>
              <a:t>Greyscale Input Image</a:t>
            </a:r>
            <a:endParaRPr lang="en-US" sz="1000" dirty="0"/>
          </a:p>
        </p:txBody>
      </p:sp>
      <p:sp>
        <p:nvSpPr>
          <p:cNvPr id="26" name="Text 4">
            <a:extLst>
              <a:ext uri="{FF2B5EF4-FFF2-40B4-BE49-F238E27FC236}">
                <a16:creationId xmlns:a16="http://schemas.microsoft.com/office/drawing/2014/main" id="{2A325740-BE0C-B748-9036-8FC2546A2653}"/>
              </a:ext>
            </a:extLst>
          </p:cNvPr>
          <p:cNvSpPr/>
          <p:nvPr/>
        </p:nvSpPr>
        <p:spPr>
          <a:xfrm>
            <a:off x="6106886" y="4086223"/>
            <a:ext cx="3200400" cy="256032"/>
          </a:xfrm>
          <a:prstGeom prst="rect">
            <a:avLst/>
          </a:prstGeom>
          <a:noFill/>
          <a:ln/>
        </p:spPr>
        <p:txBody>
          <a:bodyPr wrap="square" lIns="0" tIns="0" rIns="0" bIns="0" rtlCol="0" anchor="ctr"/>
          <a:lstStyle/>
          <a:p>
            <a:pPr marL="0" indent="0" algn="ctr">
              <a:buNone/>
            </a:pPr>
            <a:r>
              <a:rPr lang="en-US" sz="1000" dirty="0">
                <a:solidFill>
                  <a:srgbClr val="888888"/>
                </a:solidFill>
                <a:latin typeface="Calibri" pitchFamily="34" charset="0"/>
                <a:ea typeface="Calibri" pitchFamily="34" charset="-122"/>
                <a:cs typeface="Calibri" pitchFamily="34" charset="-120"/>
              </a:rPr>
              <a:t>Output Image from Mode 0</a:t>
            </a:r>
            <a:endParaRPr lang="en-US" sz="1000" dirty="0"/>
          </a:p>
        </p:txBody>
      </p:sp>
      <p:sp>
        <p:nvSpPr>
          <p:cNvPr id="900" name="Header_7"/>
          <p:cNvSpPr txBox="1"/>
          <p:nvPr/>
        </p:nvSpPr>
        <p:spPr>
          <a:xfrm>
            <a:off x="3200400" y="76200"/>
            <a:ext cx="5715600" cy="304800"/>
          </a:xfrm>
          <a:prstGeom prst="rect">
            <a:avLst/>
          </a:prstGeom>
          <a:noFill/>
        </p:spPr>
        <p:txBody>
          <a:bodyPr wrap="square" lIns="0" tIns="0" rIns="0" bIns="0" rtlCol="0" anchor="ctr"/>
          <a:lstStyle/>
          <a:p>
            <a:pPr marL="0" indent="0" algn="r">
              <a:buNone/>
            </a:pPr>
            <a:r>
              <a:rPr lang="en-US" sz="900" dirty="0">
                <a:solidFill>
                  <a:srgbClr val="888888"/>
                </a:solidFill>
                <a:latin typeface="Calibri" pitchFamily="34" charset="0"/>
              </a:rPr>
              <a:t>Scan-Based Procedural Fragment Shader ASIC</a:t>
            </a:r>
            <a:endParaRPr lang="en-US" sz="900" dirty="0"/>
          </a:p>
        </p:txBody>
      </p:sp>
      <p:sp>
        <p:nvSpPr>
          <p:cNvPr id="901" name="SlideNum_7"/>
          <p:cNvSpPr txBox="1"/>
          <p:nvPr/>
        </p:nvSpPr>
        <p:spPr>
          <a:xfrm>
            <a:off x="228600" y="76200"/>
            <a:ext cx="914400" cy="304800"/>
          </a:xfrm>
          <a:prstGeom prst="rect">
            <a:avLst/>
          </a:prstGeom>
          <a:noFill/>
        </p:spPr>
        <p:txBody>
          <a:bodyPr wrap="square" lIns="0" tIns="0" rIns="0" bIns="0" rtlCol="0" anchor="ctr"/>
          <a:lstStyle/>
          <a:p>
            <a:pPr marL="0" indent="0" algn="l">
              <a:buNone/>
            </a:pPr>
            <a:r>
              <a:rPr lang="en-US" sz="900" dirty="0">
                <a:solidFill>
                  <a:srgbClr val="888888"/>
                </a:solidFill>
                <a:latin typeface="Calibri" pitchFamily="34" charset="0"/>
              </a:rPr>
              <a:t>7 / 10</a:t>
            </a:r>
            <a:endParaRPr lang="en-US" sz="900" dirty="0"/>
          </a:p>
        </p:txBody>
      </p:sp>
      <p:sp>
        <p:nvSpPr>
          <p:cNvPr id="950" name="TitleBar_7"/>
          <p:cNvSpPr/>
          <p:nvPr/>
        </p:nvSpPr>
        <p:spPr>
          <a:xfrm>
            <a:off x="365760" y="853715"/>
            <a:ext cx="822960" cy="54864"/>
          </a:xfrm>
          <a:prstGeom prst="rect">
            <a:avLst/>
          </a:prstGeom>
          <a:solidFill>
            <a:srgbClr val="00C8FF"/>
          </a:solidFill>
          <a:ln w="12700">
            <a:solidFill>
              <a:srgbClr val="00C8FF"/>
            </a:solidFill>
            <a:prstDash val="solid"/>
          </a:ln>
        </p:spPr>
        <p:txBody>
          <a:bodyPr/>
          <a:lstStyle/>
          <a:p>
            <a:endParaRPr lang="en-US"/>
          </a:p>
        </p:txBody>
      </p:sp>
    </p:spTree>
    <p:extLst>
      <p:ext uri="{BB962C8B-B14F-4D97-AF65-F5344CB8AC3E}">
        <p14:creationId xmlns:p14="http://schemas.microsoft.com/office/powerpoint/2010/main" val="39431164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8C5DD-8B78-9022-F4E0-516F91777F30}"/>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AB18A578-D5DF-BCFD-9038-31AF7522F0CB}"/>
              </a:ext>
            </a:extLst>
          </p:cNvPr>
          <p:cNvPicPr>
            <a:picLocks noChangeAspect="1"/>
          </p:cNvPicPr>
          <p:nvPr/>
        </p:nvPicPr>
        <p:blipFill>
          <a:blip r:embed="rId3">
            <a:alphaModFix amt="17000"/>
          </a:blip>
          <a:stretch>
            <a:fillRect/>
          </a:stretch>
        </p:blipFill>
        <p:spPr>
          <a:xfrm>
            <a:off x="0" y="13874"/>
            <a:ext cx="9144000" cy="5139432"/>
          </a:xfrm>
          <a:prstGeom prst="rect">
            <a:avLst/>
          </a:prstGeom>
          <a:solidFill>
            <a:schemeClr val="tx1">
              <a:lumMod val="85000"/>
              <a:lumOff val="15000"/>
            </a:schemeClr>
          </a:solidFill>
          <a:effectLst>
            <a:reflection endPos="0" dist="50800" dir="5400000" sy="-100000" algn="bl" rotWithShape="0"/>
          </a:effectLst>
        </p:spPr>
      </p:pic>
      <p:sp>
        <p:nvSpPr>
          <p:cNvPr id="19" name="Shape 3">
            <a:extLst>
              <a:ext uri="{FF2B5EF4-FFF2-40B4-BE49-F238E27FC236}">
                <a16:creationId xmlns:a16="http://schemas.microsoft.com/office/drawing/2014/main" id="{1641E1DC-8EA9-914D-F7F5-BAE7D887114F}"/>
              </a:ext>
            </a:extLst>
          </p:cNvPr>
          <p:cNvSpPr/>
          <p:nvPr/>
        </p:nvSpPr>
        <p:spPr>
          <a:xfrm>
            <a:off x="6262950" y="949800"/>
            <a:ext cx="2797230" cy="3814835"/>
          </a:xfrm>
          <a:prstGeom prst="rect">
            <a:avLst/>
          </a:prstGeom>
          <a:solidFill>
            <a:srgbClr val="2A2A2A"/>
          </a:solidFill>
          <a:ln w="28575">
            <a:solidFill>
              <a:srgbClr val="7B61FF"/>
            </a:solidFill>
            <a:prstDash val="solid"/>
          </a:ln>
        </p:spPr>
        <p:txBody>
          <a:bodyPr/>
          <a:lstStyle/>
          <a:p>
            <a:endParaRPr lang="en-US"/>
          </a:p>
        </p:txBody>
      </p:sp>
      <p:sp>
        <p:nvSpPr>
          <p:cNvPr id="17" name="Shape 3">
            <a:extLst>
              <a:ext uri="{FF2B5EF4-FFF2-40B4-BE49-F238E27FC236}">
                <a16:creationId xmlns:a16="http://schemas.microsoft.com/office/drawing/2014/main" id="{03F22DAE-A3BA-0FA9-FF37-7714F95EBA0B}"/>
              </a:ext>
            </a:extLst>
          </p:cNvPr>
          <p:cNvSpPr/>
          <p:nvPr/>
        </p:nvSpPr>
        <p:spPr>
          <a:xfrm>
            <a:off x="3108714" y="922052"/>
            <a:ext cx="2797231" cy="3842584"/>
          </a:xfrm>
          <a:prstGeom prst="rect">
            <a:avLst/>
          </a:prstGeom>
          <a:solidFill>
            <a:srgbClr val="2A2A2A"/>
          </a:solidFill>
          <a:ln w="28575">
            <a:solidFill>
              <a:srgbClr val="7B61FF"/>
            </a:solidFill>
            <a:prstDash val="solid"/>
          </a:ln>
        </p:spPr>
        <p:txBody>
          <a:bodyPr/>
          <a:lstStyle/>
          <a:p>
            <a:endParaRPr lang="en-US"/>
          </a:p>
        </p:txBody>
      </p:sp>
      <p:cxnSp>
        <p:nvCxnSpPr>
          <p:cNvPr id="12" name="Straight Connector 11">
            <a:extLst>
              <a:ext uri="{FF2B5EF4-FFF2-40B4-BE49-F238E27FC236}">
                <a16:creationId xmlns:a16="http://schemas.microsoft.com/office/drawing/2014/main" id="{B787B004-C224-B206-7566-5FABDB44156A}"/>
              </a:ext>
            </a:extLst>
          </p:cNvPr>
          <p:cNvCxnSpPr/>
          <p:nvPr/>
        </p:nvCxnSpPr>
        <p:spPr>
          <a:xfrm>
            <a:off x="0" y="0"/>
            <a:ext cx="9260840" cy="13874"/>
          </a:xfrm>
          <a:prstGeom prst="line">
            <a:avLst/>
          </a:prstGeom>
          <a:ln w="76200">
            <a:solidFill>
              <a:srgbClr val="7B61FF"/>
            </a:solidFill>
          </a:ln>
        </p:spPr>
        <p:style>
          <a:lnRef idx="1">
            <a:schemeClr val="accent1"/>
          </a:lnRef>
          <a:fillRef idx="0">
            <a:schemeClr val="accent1"/>
          </a:fillRef>
          <a:effectRef idx="0">
            <a:schemeClr val="accent1"/>
          </a:effectRef>
          <a:fontRef idx="minor">
            <a:schemeClr val="tx1"/>
          </a:fontRef>
        </p:style>
      </p:cxnSp>
      <p:sp>
        <p:nvSpPr>
          <p:cNvPr id="21" name="Text 0">
            <a:extLst>
              <a:ext uri="{FF2B5EF4-FFF2-40B4-BE49-F238E27FC236}">
                <a16:creationId xmlns:a16="http://schemas.microsoft.com/office/drawing/2014/main" id="{D1200295-C2A7-472A-751A-C241132ABFC9}"/>
              </a:ext>
            </a:extLst>
          </p:cNvPr>
          <p:cNvSpPr/>
          <p:nvPr/>
        </p:nvSpPr>
        <p:spPr>
          <a:xfrm>
            <a:off x="365760" y="274320"/>
            <a:ext cx="8412480" cy="54864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Shortcoming of Model</a:t>
            </a:r>
            <a:endParaRPr lang="en-US" sz="3600" dirty="0"/>
          </a:p>
        </p:txBody>
      </p:sp>
      <p:cxnSp>
        <p:nvCxnSpPr>
          <p:cNvPr id="3" name="Straight Arrow Connector 2">
            <a:extLst>
              <a:ext uri="{FF2B5EF4-FFF2-40B4-BE49-F238E27FC236}">
                <a16:creationId xmlns:a16="http://schemas.microsoft.com/office/drawing/2014/main" id="{C19ED507-17FC-8115-38B2-89E4CEC00AC1}"/>
              </a:ext>
            </a:extLst>
          </p:cNvPr>
          <p:cNvCxnSpPr>
            <a:cxnSpLocks/>
            <a:endCxn id="19" idx="1"/>
          </p:cNvCxnSpPr>
          <p:nvPr/>
        </p:nvCxnSpPr>
        <p:spPr>
          <a:xfrm>
            <a:off x="5905945" y="2857218"/>
            <a:ext cx="357005" cy="0"/>
          </a:xfrm>
          <a:prstGeom prst="straightConnector1">
            <a:avLst/>
          </a:prstGeom>
          <a:ln w="76200">
            <a:solidFill>
              <a:srgbClr val="00B0F0"/>
            </a:solidFill>
            <a:tailEnd type="triangle"/>
          </a:ln>
          <a:effectLst>
            <a:softEdge rad="12700"/>
          </a:effectLst>
          <a:scene3d>
            <a:camera prst="perspectiveRelaxedModerately"/>
            <a:lightRig rig="threePt" dir="t"/>
          </a:scene3d>
        </p:spPr>
        <p:style>
          <a:lnRef idx="1">
            <a:schemeClr val="accent1"/>
          </a:lnRef>
          <a:fillRef idx="0">
            <a:schemeClr val="accent1"/>
          </a:fillRef>
          <a:effectRef idx="0">
            <a:schemeClr val="accent1"/>
          </a:effectRef>
          <a:fontRef idx="minor">
            <a:schemeClr val="tx1"/>
          </a:fontRef>
        </p:style>
      </p:cxnSp>
      <p:sp>
        <p:nvSpPr>
          <p:cNvPr id="23" name="Text 4">
            <a:extLst>
              <a:ext uri="{FF2B5EF4-FFF2-40B4-BE49-F238E27FC236}">
                <a16:creationId xmlns:a16="http://schemas.microsoft.com/office/drawing/2014/main" id="{09B01E6B-504A-7464-FDA4-EF34CDD0D450}"/>
              </a:ext>
            </a:extLst>
          </p:cNvPr>
          <p:cNvSpPr/>
          <p:nvPr/>
        </p:nvSpPr>
        <p:spPr>
          <a:xfrm>
            <a:off x="2907129" y="4814522"/>
            <a:ext cx="3200400" cy="256032"/>
          </a:xfrm>
          <a:prstGeom prst="rect">
            <a:avLst/>
          </a:prstGeom>
          <a:noFill/>
          <a:ln/>
        </p:spPr>
        <p:txBody>
          <a:bodyPr wrap="square" lIns="0" tIns="0" rIns="0" bIns="0" rtlCol="0" anchor="ctr"/>
          <a:lstStyle/>
          <a:p>
            <a:pPr marL="0" indent="0" algn="ctr">
              <a:buNone/>
            </a:pPr>
            <a:r>
              <a:rPr lang="en-US" sz="1000" dirty="0">
                <a:solidFill>
                  <a:srgbClr val="888888"/>
                </a:solidFill>
                <a:latin typeface="Calibri" pitchFamily="34" charset="0"/>
                <a:ea typeface="Calibri" pitchFamily="34" charset="-122"/>
                <a:cs typeface="Calibri" pitchFamily="34" charset="-120"/>
              </a:rPr>
              <a:t>Input Image</a:t>
            </a:r>
            <a:endParaRPr lang="en-US" sz="1000" dirty="0"/>
          </a:p>
        </p:txBody>
      </p:sp>
      <p:sp>
        <p:nvSpPr>
          <p:cNvPr id="25" name="Text 4">
            <a:extLst>
              <a:ext uri="{FF2B5EF4-FFF2-40B4-BE49-F238E27FC236}">
                <a16:creationId xmlns:a16="http://schemas.microsoft.com/office/drawing/2014/main" id="{CDB275F6-F9A9-DD93-B6AB-F95A0EBB33C7}"/>
              </a:ext>
            </a:extLst>
          </p:cNvPr>
          <p:cNvSpPr/>
          <p:nvPr/>
        </p:nvSpPr>
        <p:spPr>
          <a:xfrm>
            <a:off x="6060440" y="4814522"/>
            <a:ext cx="3200400" cy="256032"/>
          </a:xfrm>
          <a:prstGeom prst="rect">
            <a:avLst/>
          </a:prstGeom>
          <a:noFill/>
          <a:ln/>
        </p:spPr>
        <p:txBody>
          <a:bodyPr wrap="square" lIns="0" tIns="0" rIns="0" bIns="0" rtlCol="0" anchor="ctr"/>
          <a:lstStyle/>
          <a:p>
            <a:pPr marL="0" indent="0" algn="ctr">
              <a:buNone/>
            </a:pPr>
            <a:r>
              <a:rPr lang="en-US" sz="1000" dirty="0">
                <a:solidFill>
                  <a:srgbClr val="888888"/>
                </a:solidFill>
                <a:latin typeface="Calibri" pitchFamily="34" charset="0"/>
                <a:ea typeface="Calibri" pitchFamily="34" charset="-122"/>
                <a:cs typeface="Calibri" pitchFamily="34" charset="-120"/>
              </a:rPr>
              <a:t>Greyscale Input Image</a:t>
            </a:r>
            <a:endParaRPr lang="en-US" sz="1000" dirty="0"/>
          </a:p>
        </p:txBody>
      </p:sp>
      <p:sp>
        <p:nvSpPr>
          <p:cNvPr id="26" name="Text 4">
            <a:extLst>
              <a:ext uri="{FF2B5EF4-FFF2-40B4-BE49-F238E27FC236}">
                <a16:creationId xmlns:a16="http://schemas.microsoft.com/office/drawing/2014/main" id="{8D849E0B-238B-62EB-9984-A3A2A125388D}"/>
              </a:ext>
            </a:extLst>
          </p:cNvPr>
          <p:cNvSpPr/>
          <p:nvPr/>
        </p:nvSpPr>
        <p:spPr>
          <a:xfrm>
            <a:off x="6106886" y="4086223"/>
            <a:ext cx="3200400" cy="256032"/>
          </a:xfrm>
          <a:prstGeom prst="rect">
            <a:avLst/>
          </a:prstGeom>
          <a:noFill/>
          <a:ln/>
        </p:spPr>
        <p:txBody>
          <a:bodyPr wrap="square" lIns="0" tIns="0" rIns="0" bIns="0" rtlCol="0" anchor="ctr"/>
          <a:lstStyle/>
          <a:p>
            <a:pPr marL="0" indent="0" algn="ctr">
              <a:buNone/>
            </a:pPr>
            <a:endParaRPr lang="en-US" sz="1000" dirty="0"/>
          </a:p>
        </p:txBody>
      </p:sp>
      <p:pic>
        <p:nvPicPr>
          <p:cNvPr id="5" name="Picture 4">
            <a:extLst>
              <a:ext uri="{FF2B5EF4-FFF2-40B4-BE49-F238E27FC236}">
                <a16:creationId xmlns:a16="http://schemas.microsoft.com/office/drawing/2014/main" id="{7332E086-C7F1-AC30-0272-9DA3CBEC0EF8}"/>
              </a:ext>
            </a:extLst>
          </p:cNvPr>
          <p:cNvPicPr>
            <a:picLocks noChangeAspect="1"/>
          </p:cNvPicPr>
          <p:nvPr/>
        </p:nvPicPr>
        <p:blipFill>
          <a:blip r:embed="rId4"/>
          <a:srcRect l="2351" r="2" b="2"/>
          <a:stretch>
            <a:fillRect/>
          </a:stretch>
        </p:blipFill>
        <p:spPr>
          <a:xfrm>
            <a:off x="3173994" y="1014567"/>
            <a:ext cx="2677721" cy="3711058"/>
          </a:xfrm>
          <a:prstGeom prst="rect">
            <a:avLst/>
          </a:prstGeom>
        </p:spPr>
      </p:pic>
      <p:pic>
        <p:nvPicPr>
          <p:cNvPr id="7" name="Picture 6">
            <a:extLst>
              <a:ext uri="{FF2B5EF4-FFF2-40B4-BE49-F238E27FC236}">
                <a16:creationId xmlns:a16="http://schemas.microsoft.com/office/drawing/2014/main" id="{9E561983-C67C-B29F-131A-342B6893E63A}"/>
              </a:ext>
            </a:extLst>
          </p:cNvPr>
          <p:cNvPicPr>
            <a:picLocks noChangeAspect="1"/>
          </p:cNvPicPr>
          <p:nvPr/>
        </p:nvPicPr>
        <p:blipFill>
          <a:blip r:embed="rId5"/>
          <a:srcRect r="4777"/>
          <a:stretch>
            <a:fillRect/>
          </a:stretch>
        </p:blipFill>
        <p:spPr>
          <a:xfrm>
            <a:off x="6317180" y="1025055"/>
            <a:ext cx="2696292" cy="3693635"/>
          </a:xfrm>
          <a:prstGeom prst="rect">
            <a:avLst/>
          </a:prstGeom>
        </p:spPr>
      </p:pic>
      <p:sp>
        <p:nvSpPr>
          <p:cNvPr id="35" name="Shape 2">
            <a:extLst>
              <a:ext uri="{FF2B5EF4-FFF2-40B4-BE49-F238E27FC236}">
                <a16:creationId xmlns:a16="http://schemas.microsoft.com/office/drawing/2014/main" id="{E9B00CC2-1F2F-35EC-95DA-0C84BD64B193}"/>
              </a:ext>
            </a:extLst>
          </p:cNvPr>
          <p:cNvSpPr/>
          <p:nvPr/>
        </p:nvSpPr>
        <p:spPr>
          <a:xfrm>
            <a:off x="158468" y="3648457"/>
            <a:ext cx="2833406" cy="1239218"/>
          </a:xfrm>
          <a:prstGeom prst="rect">
            <a:avLst/>
          </a:prstGeom>
          <a:solidFill>
            <a:srgbClr val="1E1E1E"/>
          </a:solidFill>
          <a:ln w="12700">
            <a:solidFill>
              <a:srgbClr val="2A2A2A"/>
            </a:solidFill>
            <a:prstDash val="solid"/>
          </a:ln>
          <a:effectLst>
            <a:outerShdw blurRad="101600" dist="38100" dir="8100000" algn="bl" rotWithShape="0">
              <a:srgbClr val="000000">
                <a:alpha val="40000"/>
              </a:srgbClr>
            </a:outerShdw>
          </a:effectLst>
        </p:spPr>
        <p:txBody>
          <a:bodyPr/>
          <a:lstStyle/>
          <a:p>
            <a:endParaRPr lang="en-US" dirty="0"/>
          </a:p>
        </p:txBody>
      </p:sp>
      <p:sp>
        <p:nvSpPr>
          <p:cNvPr id="36" name="Shape 2">
            <a:extLst>
              <a:ext uri="{FF2B5EF4-FFF2-40B4-BE49-F238E27FC236}">
                <a16:creationId xmlns:a16="http://schemas.microsoft.com/office/drawing/2014/main" id="{2FDB60F1-16A1-3DA8-7098-C4ADF8DA20E7}"/>
              </a:ext>
            </a:extLst>
          </p:cNvPr>
          <p:cNvSpPr/>
          <p:nvPr/>
        </p:nvSpPr>
        <p:spPr>
          <a:xfrm>
            <a:off x="158468" y="2278648"/>
            <a:ext cx="2833406" cy="1239218"/>
          </a:xfrm>
          <a:prstGeom prst="rect">
            <a:avLst/>
          </a:prstGeom>
          <a:solidFill>
            <a:srgbClr val="1E1E1E"/>
          </a:solidFill>
          <a:ln w="12700">
            <a:solidFill>
              <a:srgbClr val="2A2A2A"/>
            </a:solidFill>
            <a:prstDash val="solid"/>
          </a:ln>
          <a:effectLst>
            <a:outerShdw blurRad="101600" dist="38100" dir="8100000" algn="bl" rotWithShape="0">
              <a:srgbClr val="000000">
                <a:alpha val="40000"/>
              </a:srgbClr>
            </a:outerShdw>
          </a:effectLst>
        </p:spPr>
        <p:txBody>
          <a:bodyPr/>
          <a:lstStyle/>
          <a:p>
            <a:endParaRPr lang="en-US" dirty="0"/>
          </a:p>
        </p:txBody>
      </p:sp>
      <p:sp>
        <p:nvSpPr>
          <p:cNvPr id="37" name="Shape 2">
            <a:extLst>
              <a:ext uri="{FF2B5EF4-FFF2-40B4-BE49-F238E27FC236}">
                <a16:creationId xmlns:a16="http://schemas.microsoft.com/office/drawing/2014/main" id="{28CEEA77-D0B7-0AF0-B0B9-F8097C3F203C}"/>
              </a:ext>
            </a:extLst>
          </p:cNvPr>
          <p:cNvSpPr/>
          <p:nvPr/>
        </p:nvSpPr>
        <p:spPr>
          <a:xfrm>
            <a:off x="162086" y="922051"/>
            <a:ext cx="2833406" cy="1239218"/>
          </a:xfrm>
          <a:prstGeom prst="rect">
            <a:avLst/>
          </a:prstGeom>
          <a:solidFill>
            <a:srgbClr val="1E1E1E"/>
          </a:solidFill>
          <a:ln w="12700">
            <a:solidFill>
              <a:srgbClr val="2A2A2A"/>
            </a:solidFill>
            <a:prstDash val="solid"/>
          </a:ln>
          <a:effectLst>
            <a:outerShdw blurRad="101600" dist="38100" dir="8100000" algn="bl" rotWithShape="0">
              <a:srgbClr val="000000">
                <a:alpha val="40000"/>
              </a:srgbClr>
            </a:outerShdw>
          </a:effectLst>
        </p:spPr>
        <p:txBody>
          <a:bodyPr/>
          <a:lstStyle/>
          <a:p>
            <a:endParaRPr lang="en-US" dirty="0"/>
          </a:p>
        </p:txBody>
      </p:sp>
      <p:cxnSp>
        <p:nvCxnSpPr>
          <p:cNvPr id="28" name="Straight Connector 27">
            <a:extLst>
              <a:ext uri="{FF2B5EF4-FFF2-40B4-BE49-F238E27FC236}">
                <a16:creationId xmlns:a16="http://schemas.microsoft.com/office/drawing/2014/main" id="{7C72D155-BB59-9CB8-BDF6-0F786EC37D40}"/>
              </a:ext>
            </a:extLst>
          </p:cNvPr>
          <p:cNvCxnSpPr>
            <a:cxnSpLocks/>
          </p:cNvCxnSpPr>
          <p:nvPr/>
        </p:nvCxnSpPr>
        <p:spPr>
          <a:xfrm>
            <a:off x="254667" y="3834291"/>
            <a:ext cx="2221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51D145ED-07BC-FF2F-63F5-8520434AC2D0}"/>
              </a:ext>
            </a:extLst>
          </p:cNvPr>
          <p:cNvSpPr txBox="1"/>
          <p:nvPr/>
        </p:nvSpPr>
        <p:spPr>
          <a:xfrm>
            <a:off x="414812" y="3751446"/>
            <a:ext cx="77787" cy="215444"/>
          </a:xfrm>
          <a:prstGeom prst="rect">
            <a:avLst/>
          </a:prstGeom>
          <a:noFill/>
        </p:spPr>
        <p:txBody>
          <a:bodyPr wrap="square" rtlCol="0">
            <a:spAutoFit/>
          </a:bodyPr>
          <a:lstStyle/>
          <a:p>
            <a:r>
              <a:rPr lang="en-US" sz="8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x</a:t>
            </a:r>
          </a:p>
        </p:txBody>
      </p:sp>
      <p:sp>
        <p:nvSpPr>
          <p:cNvPr id="33" name="TextBox 32">
            <a:extLst>
              <a:ext uri="{FF2B5EF4-FFF2-40B4-BE49-F238E27FC236}">
                <a16:creationId xmlns:a16="http://schemas.microsoft.com/office/drawing/2014/main" id="{33935F1E-83B7-936A-7504-5B8082E05FFF}"/>
              </a:ext>
            </a:extLst>
          </p:cNvPr>
          <p:cNvSpPr txBox="1"/>
          <p:nvPr/>
        </p:nvSpPr>
        <p:spPr>
          <a:xfrm>
            <a:off x="247715" y="3587133"/>
            <a:ext cx="77787" cy="215444"/>
          </a:xfrm>
          <a:prstGeom prst="rect">
            <a:avLst/>
          </a:prstGeom>
          <a:noFill/>
        </p:spPr>
        <p:txBody>
          <a:bodyPr wrap="square" rtlCol="0">
            <a:spAutoFit/>
          </a:bodyPr>
          <a:lstStyle/>
          <a:p>
            <a:r>
              <a:rPr lang="en-US" sz="800" dirty="0">
                <a:solidFill>
                  <a:schemeClr val="bg1"/>
                </a:solidFill>
                <a:latin typeface="ADLaM Display" panose="020F0502020204030204" pitchFamily="2" charset="0"/>
                <a:ea typeface="ADLaM Display" panose="020F0502020204030204" pitchFamily="2" charset="0"/>
                <a:cs typeface="ADLaM Display" panose="020F0502020204030204" pitchFamily="2" charset="0"/>
              </a:rPr>
              <a:t>y</a:t>
            </a:r>
          </a:p>
        </p:txBody>
      </p:sp>
      <p:pic>
        <p:nvPicPr>
          <p:cNvPr id="24" name="Picture 23">
            <a:extLst>
              <a:ext uri="{FF2B5EF4-FFF2-40B4-BE49-F238E27FC236}">
                <a16:creationId xmlns:a16="http://schemas.microsoft.com/office/drawing/2014/main" id="{9E582EAF-A5C3-A1C6-C2D6-6CABB343419C}"/>
              </a:ext>
            </a:extLst>
          </p:cNvPr>
          <p:cNvPicPr>
            <a:picLocks noChangeAspect="1"/>
          </p:cNvPicPr>
          <p:nvPr/>
        </p:nvPicPr>
        <p:blipFill>
          <a:blip r:embed="rId6"/>
          <a:stretch>
            <a:fillRect/>
          </a:stretch>
        </p:blipFill>
        <p:spPr>
          <a:xfrm>
            <a:off x="254667" y="1002011"/>
            <a:ext cx="205320" cy="193765"/>
          </a:xfrm>
          <a:prstGeom prst="rect">
            <a:avLst/>
          </a:prstGeom>
        </p:spPr>
      </p:pic>
      <p:cxnSp>
        <p:nvCxnSpPr>
          <p:cNvPr id="29" name="Straight Connector 28">
            <a:extLst>
              <a:ext uri="{FF2B5EF4-FFF2-40B4-BE49-F238E27FC236}">
                <a16:creationId xmlns:a16="http://schemas.microsoft.com/office/drawing/2014/main" id="{5D22B8F0-564C-CD6D-5008-0844A5D4E718}"/>
              </a:ext>
            </a:extLst>
          </p:cNvPr>
          <p:cNvCxnSpPr>
            <a:cxnSpLocks/>
          </p:cNvCxnSpPr>
          <p:nvPr/>
        </p:nvCxnSpPr>
        <p:spPr>
          <a:xfrm>
            <a:off x="365760" y="3723683"/>
            <a:ext cx="0" cy="22121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34" name="Picture 33">
            <a:extLst>
              <a:ext uri="{FF2B5EF4-FFF2-40B4-BE49-F238E27FC236}">
                <a16:creationId xmlns:a16="http://schemas.microsoft.com/office/drawing/2014/main" id="{2156A8EC-8068-70FC-6943-39EC320720A4}"/>
              </a:ext>
            </a:extLst>
          </p:cNvPr>
          <p:cNvPicPr>
            <a:picLocks noChangeAspect="1"/>
          </p:cNvPicPr>
          <p:nvPr/>
        </p:nvPicPr>
        <p:blipFill>
          <a:blip r:embed="rId7"/>
          <a:stretch>
            <a:fillRect/>
          </a:stretch>
        </p:blipFill>
        <p:spPr>
          <a:xfrm>
            <a:off x="195612" y="2325144"/>
            <a:ext cx="430836" cy="246606"/>
          </a:xfrm>
          <a:prstGeom prst="rect">
            <a:avLst/>
          </a:prstGeom>
        </p:spPr>
      </p:pic>
      <p:sp>
        <p:nvSpPr>
          <p:cNvPr id="38" name="TextBox 37">
            <a:extLst>
              <a:ext uri="{FF2B5EF4-FFF2-40B4-BE49-F238E27FC236}">
                <a16:creationId xmlns:a16="http://schemas.microsoft.com/office/drawing/2014/main" id="{64D89349-78C6-34BA-96BC-EAAABFB286E1}"/>
              </a:ext>
            </a:extLst>
          </p:cNvPr>
          <p:cNvSpPr txBox="1"/>
          <p:nvPr/>
        </p:nvSpPr>
        <p:spPr>
          <a:xfrm>
            <a:off x="492599" y="895732"/>
            <a:ext cx="1793240" cy="369332"/>
          </a:xfrm>
          <a:prstGeom prst="rect">
            <a:avLst/>
          </a:prstGeom>
          <a:noFill/>
        </p:spPr>
        <p:txBody>
          <a:bodyPr wrap="square" rtlCol="0">
            <a:spAutoFit/>
          </a:bodyPr>
          <a:lstStyle/>
          <a:p>
            <a:r>
              <a:rPr lang="en-US" b="1" dirty="0">
                <a:solidFill>
                  <a:srgbClr val="00C8FF"/>
                </a:solidFill>
                <a:latin typeface="Calibri" pitchFamily="34" charset="0"/>
                <a:ea typeface="Calibri" pitchFamily="34" charset="-122"/>
                <a:cs typeface="Calibri" pitchFamily="34" charset="-120"/>
              </a:rPr>
              <a:t>No Raytracing</a:t>
            </a:r>
            <a:endParaRPr lang="en-US" dirty="0"/>
          </a:p>
        </p:txBody>
      </p:sp>
      <p:sp>
        <p:nvSpPr>
          <p:cNvPr id="39" name="TextBox 38">
            <a:extLst>
              <a:ext uri="{FF2B5EF4-FFF2-40B4-BE49-F238E27FC236}">
                <a16:creationId xmlns:a16="http://schemas.microsoft.com/office/drawing/2014/main" id="{65F93DA7-07D5-2AA4-4CC9-B821678F769C}"/>
              </a:ext>
            </a:extLst>
          </p:cNvPr>
          <p:cNvSpPr txBox="1"/>
          <p:nvPr/>
        </p:nvSpPr>
        <p:spPr>
          <a:xfrm>
            <a:off x="492599" y="2278648"/>
            <a:ext cx="1793240" cy="369332"/>
          </a:xfrm>
          <a:prstGeom prst="rect">
            <a:avLst/>
          </a:prstGeom>
          <a:noFill/>
        </p:spPr>
        <p:txBody>
          <a:bodyPr wrap="square" rtlCol="0">
            <a:spAutoFit/>
          </a:bodyPr>
          <a:lstStyle/>
          <a:p>
            <a:r>
              <a:rPr lang="en-US" b="1" dirty="0">
                <a:solidFill>
                  <a:srgbClr val="00C8FF"/>
                </a:solidFill>
                <a:latin typeface="Calibri" pitchFamily="34" charset="0"/>
                <a:ea typeface="Calibri" pitchFamily="34" charset="-122"/>
                <a:cs typeface="Calibri" pitchFamily="34" charset="-120"/>
              </a:rPr>
              <a:t>No Shadows</a:t>
            </a:r>
            <a:endParaRPr lang="en-US" dirty="0"/>
          </a:p>
        </p:txBody>
      </p:sp>
      <p:sp>
        <p:nvSpPr>
          <p:cNvPr id="40" name="TextBox 39">
            <a:extLst>
              <a:ext uri="{FF2B5EF4-FFF2-40B4-BE49-F238E27FC236}">
                <a16:creationId xmlns:a16="http://schemas.microsoft.com/office/drawing/2014/main" id="{1246CB70-25B2-CA5E-D24C-FEC2EC922C0A}"/>
              </a:ext>
            </a:extLst>
          </p:cNvPr>
          <p:cNvSpPr txBox="1"/>
          <p:nvPr/>
        </p:nvSpPr>
        <p:spPr>
          <a:xfrm>
            <a:off x="457019" y="3616535"/>
            <a:ext cx="1793240" cy="369332"/>
          </a:xfrm>
          <a:prstGeom prst="rect">
            <a:avLst/>
          </a:prstGeom>
          <a:noFill/>
        </p:spPr>
        <p:txBody>
          <a:bodyPr wrap="square" rtlCol="0">
            <a:spAutoFit/>
          </a:bodyPr>
          <a:lstStyle/>
          <a:p>
            <a:r>
              <a:rPr lang="en-US" b="1" dirty="0">
                <a:solidFill>
                  <a:srgbClr val="00C8FF"/>
                </a:solidFill>
                <a:latin typeface="Calibri" pitchFamily="34" charset="0"/>
                <a:ea typeface="Calibri" pitchFamily="34" charset="-122"/>
                <a:cs typeface="Calibri" pitchFamily="34" charset="-120"/>
              </a:rPr>
              <a:t>Only 2D</a:t>
            </a:r>
            <a:endParaRPr lang="en-US" dirty="0"/>
          </a:p>
        </p:txBody>
      </p:sp>
      <p:sp>
        <p:nvSpPr>
          <p:cNvPr id="48" name="Text 4">
            <a:extLst>
              <a:ext uri="{FF2B5EF4-FFF2-40B4-BE49-F238E27FC236}">
                <a16:creationId xmlns:a16="http://schemas.microsoft.com/office/drawing/2014/main" id="{04977038-CEEB-272F-CE1B-82685DBC10D4}"/>
              </a:ext>
            </a:extLst>
          </p:cNvPr>
          <p:cNvSpPr/>
          <p:nvPr/>
        </p:nvSpPr>
        <p:spPr>
          <a:xfrm>
            <a:off x="457200" y="3964883"/>
            <a:ext cx="2423160" cy="495234"/>
          </a:xfrm>
          <a:prstGeom prst="rect">
            <a:avLst/>
          </a:prstGeom>
          <a:noFill/>
          <a:ln/>
        </p:spPr>
        <p:txBody>
          <a:bodyPr wrap="square" lIns="0" tIns="0" rIns="0" bIns="0" rtlCol="0" anchor="t"/>
          <a:lstStyle/>
          <a:p>
            <a:pPr marL="0" indent="0" algn="l">
              <a:buNone/>
            </a:pPr>
            <a:r>
              <a:rPr lang="en-US" sz="1300" dirty="0">
                <a:solidFill>
                  <a:srgbClr val="CCCCCC"/>
                </a:solidFill>
                <a:latin typeface="Calibri" pitchFamily="34" charset="0"/>
                <a:ea typeface="Calibri" pitchFamily="34" charset="-122"/>
                <a:cs typeface="Calibri" pitchFamily="34" charset="-120"/>
              </a:rPr>
              <a:t>Design only utilizes X-Y coordinates, cannot handle isometrics.</a:t>
            </a:r>
            <a:endParaRPr lang="en-US" sz="1300" dirty="0"/>
          </a:p>
        </p:txBody>
      </p:sp>
      <p:sp>
        <p:nvSpPr>
          <p:cNvPr id="49" name="Text 4">
            <a:extLst>
              <a:ext uri="{FF2B5EF4-FFF2-40B4-BE49-F238E27FC236}">
                <a16:creationId xmlns:a16="http://schemas.microsoft.com/office/drawing/2014/main" id="{9CB3645C-3163-EB97-67AD-EEA7481343E2}"/>
              </a:ext>
            </a:extLst>
          </p:cNvPr>
          <p:cNvSpPr/>
          <p:nvPr/>
        </p:nvSpPr>
        <p:spPr>
          <a:xfrm>
            <a:off x="457200" y="1258693"/>
            <a:ext cx="2423160" cy="2468880"/>
          </a:xfrm>
          <a:prstGeom prst="rect">
            <a:avLst/>
          </a:prstGeom>
          <a:noFill/>
          <a:ln/>
        </p:spPr>
        <p:txBody>
          <a:bodyPr wrap="square" lIns="0" tIns="0" rIns="0" bIns="0" rtlCol="0" anchor="t"/>
          <a:lstStyle/>
          <a:p>
            <a:pPr marL="0" indent="0" algn="l">
              <a:buNone/>
            </a:pPr>
            <a:r>
              <a:rPr lang="en-US" sz="1300" dirty="0">
                <a:solidFill>
                  <a:srgbClr val="CCCCCC"/>
                </a:solidFill>
                <a:latin typeface="Calibri" pitchFamily="34" charset="0"/>
                <a:ea typeface="Calibri" pitchFamily="34" charset="-122"/>
                <a:cs typeface="Calibri" pitchFamily="34" charset="-120"/>
              </a:rPr>
              <a:t>No implementation of ray tracing for shading</a:t>
            </a:r>
            <a:endParaRPr lang="en-US" sz="1300" dirty="0"/>
          </a:p>
        </p:txBody>
      </p:sp>
      <p:sp>
        <p:nvSpPr>
          <p:cNvPr id="50" name="Text 4">
            <a:extLst>
              <a:ext uri="{FF2B5EF4-FFF2-40B4-BE49-F238E27FC236}">
                <a16:creationId xmlns:a16="http://schemas.microsoft.com/office/drawing/2014/main" id="{FC114286-BDC3-40A4-8E44-C9E4B880F03A}"/>
              </a:ext>
            </a:extLst>
          </p:cNvPr>
          <p:cNvSpPr/>
          <p:nvPr/>
        </p:nvSpPr>
        <p:spPr>
          <a:xfrm>
            <a:off x="437261" y="2624728"/>
            <a:ext cx="2423160" cy="2468880"/>
          </a:xfrm>
          <a:prstGeom prst="rect">
            <a:avLst/>
          </a:prstGeom>
          <a:noFill/>
          <a:ln/>
        </p:spPr>
        <p:txBody>
          <a:bodyPr wrap="square" lIns="0" tIns="0" rIns="0" bIns="0" rtlCol="0" anchor="t"/>
          <a:lstStyle/>
          <a:p>
            <a:pPr marL="0" indent="0" algn="l">
              <a:buNone/>
            </a:pPr>
            <a:r>
              <a:rPr lang="en-US" sz="1300" dirty="0">
                <a:solidFill>
                  <a:srgbClr val="CCCCCC"/>
                </a:solidFill>
                <a:latin typeface="Calibri" pitchFamily="34" charset="0"/>
                <a:ea typeface="Calibri" pitchFamily="34" charset="-122"/>
                <a:cs typeface="Calibri" pitchFamily="34" charset="-120"/>
              </a:rPr>
              <a:t>Shading is a function of distance from the source, does not actually consider object itself</a:t>
            </a:r>
            <a:endParaRPr lang="en-US" sz="1300" dirty="0"/>
          </a:p>
        </p:txBody>
      </p:sp>
      <p:sp>
        <p:nvSpPr>
          <p:cNvPr id="900" name="Header_8"/>
          <p:cNvSpPr txBox="1"/>
          <p:nvPr/>
        </p:nvSpPr>
        <p:spPr>
          <a:xfrm>
            <a:off x="3200400" y="76200"/>
            <a:ext cx="5715600" cy="304800"/>
          </a:xfrm>
          <a:prstGeom prst="rect">
            <a:avLst/>
          </a:prstGeom>
          <a:noFill/>
        </p:spPr>
        <p:txBody>
          <a:bodyPr wrap="square" lIns="0" tIns="0" rIns="0" bIns="0" rtlCol="0" anchor="ctr"/>
          <a:lstStyle/>
          <a:p>
            <a:pPr marL="0" indent="0" algn="r">
              <a:buNone/>
            </a:pPr>
            <a:r>
              <a:rPr lang="en-US" sz="900" dirty="0">
                <a:solidFill>
                  <a:srgbClr val="888888"/>
                </a:solidFill>
                <a:latin typeface="Calibri" pitchFamily="34" charset="0"/>
              </a:rPr>
              <a:t>Scan-Based Procedural Fragment Shader ASIC</a:t>
            </a:r>
            <a:endParaRPr lang="en-US" sz="900" dirty="0"/>
          </a:p>
        </p:txBody>
      </p:sp>
      <p:sp>
        <p:nvSpPr>
          <p:cNvPr id="901" name="SlideNum_8"/>
          <p:cNvSpPr txBox="1"/>
          <p:nvPr/>
        </p:nvSpPr>
        <p:spPr>
          <a:xfrm>
            <a:off x="228600" y="76200"/>
            <a:ext cx="914400" cy="304800"/>
          </a:xfrm>
          <a:prstGeom prst="rect">
            <a:avLst/>
          </a:prstGeom>
          <a:noFill/>
        </p:spPr>
        <p:txBody>
          <a:bodyPr wrap="square" lIns="0" tIns="0" rIns="0" bIns="0" rtlCol="0" anchor="ctr"/>
          <a:lstStyle/>
          <a:p>
            <a:pPr marL="0" indent="0" algn="l">
              <a:buNone/>
            </a:pPr>
            <a:r>
              <a:rPr lang="en-US" sz="900" dirty="0">
                <a:solidFill>
                  <a:srgbClr val="888888"/>
                </a:solidFill>
                <a:latin typeface="Calibri" pitchFamily="34" charset="0"/>
              </a:rPr>
              <a:t>8 / 10</a:t>
            </a:r>
            <a:endParaRPr lang="en-US" sz="900" dirty="0"/>
          </a:p>
        </p:txBody>
      </p:sp>
      <p:sp>
        <p:nvSpPr>
          <p:cNvPr id="950" name="TitleBar_8"/>
          <p:cNvSpPr/>
          <p:nvPr/>
        </p:nvSpPr>
        <p:spPr>
          <a:xfrm>
            <a:off x="365760" y="853715"/>
            <a:ext cx="822960" cy="54864"/>
          </a:xfrm>
          <a:prstGeom prst="rect">
            <a:avLst/>
          </a:prstGeom>
          <a:solidFill>
            <a:srgbClr val="00C8FF"/>
          </a:solidFill>
          <a:ln w="12700">
            <a:solidFill>
              <a:srgbClr val="00C8FF"/>
            </a:solidFill>
            <a:prstDash val="solid"/>
          </a:ln>
        </p:spPr>
        <p:txBody>
          <a:bodyPr/>
          <a:lstStyle/>
          <a:p>
            <a:endParaRPr lang="en-US"/>
          </a:p>
        </p:txBody>
      </p:sp>
    </p:spTree>
    <p:extLst>
      <p:ext uri="{BB962C8B-B14F-4D97-AF65-F5344CB8AC3E}">
        <p14:creationId xmlns:p14="http://schemas.microsoft.com/office/powerpoint/2010/main" val="1201701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2" name="Shape 0"/>
          <p:cNvSpPr/>
          <p:nvPr/>
        </p:nvSpPr>
        <p:spPr>
          <a:xfrm>
            <a:off x="9034272" y="0"/>
            <a:ext cx="109728" cy="5143500"/>
          </a:xfrm>
          <a:prstGeom prst="rect">
            <a:avLst/>
          </a:prstGeom>
          <a:solidFill>
            <a:srgbClr val="7B61FF"/>
          </a:solidFill>
          <a:ln w="12700">
            <a:solidFill>
              <a:srgbClr val="7B61FF"/>
            </a:solidFill>
            <a:prstDash val="solid"/>
          </a:ln>
        </p:spPr>
        <p:txBody>
          <a:bodyPr/>
          <a:lstStyle/>
          <a:p>
            <a:endParaRPr lang="en-US"/>
          </a:p>
        </p:txBody>
      </p:sp>
      <p:sp>
        <p:nvSpPr>
          <p:cNvPr id="5" name="Text 3"/>
          <p:cNvSpPr/>
          <p:nvPr/>
        </p:nvSpPr>
        <p:spPr>
          <a:xfrm>
            <a:off x="457200" y="1188720"/>
            <a:ext cx="457200" cy="6400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6" name="Text 4"/>
          <p:cNvSpPr/>
          <p:nvPr/>
        </p:nvSpPr>
        <p:spPr>
          <a:xfrm>
            <a:off x="1005840" y="1234440"/>
            <a:ext cx="7589520" cy="640080"/>
          </a:xfrm>
          <a:prstGeom prst="rect">
            <a:avLst/>
          </a:prstGeom>
          <a:noFill/>
          <a:ln/>
        </p:spPr>
        <p:txBody>
          <a:bodyPr wrap="square" lIns="0" tIns="0" rIns="0" bIns="0" rtlCol="0" anchor="ctr"/>
          <a:lstStyle/>
          <a:p>
            <a:pPr marL="0" indent="0">
              <a:buNone/>
            </a:pPr>
            <a:r>
              <a:rPr lang="en-US" sz="1400" dirty="0">
                <a:solidFill>
                  <a:schemeClr val="bg2"/>
                </a:solidFill>
                <a:latin typeface="Calibri" pitchFamily="34" charset="0"/>
                <a:ea typeface="Calibri" pitchFamily="34" charset="-122"/>
                <a:cs typeface="Calibri" pitchFamily="34" charset="-120"/>
              </a:rPr>
              <a:t>Successfully implemented a real-time procedural lighting engine in Verilog targeting actual silicon via Tiny Tapeout.</a:t>
            </a:r>
            <a:endParaRPr lang="en-US" sz="1400" dirty="0">
              <a:solidFill>
                <a:schemeClr val="bg2"/>
              </a:solidFill>
            </a:endParaRPr>
          </a:p>
        </p:txBody>
      </p:sp>
      <p:sp>
        <p:nvSpPr>
          <p:cNvPr id="7" name="Text 5"/>
          <p:cNvSpPr/>
          <p:nvPr/>
        </p:nvSpPr>
        <p:spPr>
          <a:xfrm>
            <a:off x="457200" y="2011680"/>
            <a:ext cx="457200" cy="6400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8" name="Text 6"/>
          <p:cNvSpPr/>
          <p:nvPr/>
        </p:nvSpPr>
        <p:spPr>
          <a:xfrm>
            <a:off x="1005840" y="2057400"/>
            <a:ext cx="7589520" cy="640080"/>
          </a:xfrm>
          <a:prstGeom prst="rect">
            <a:avLst/>
          </a:prstGeom>
          <a:noFill/>
          <a:ln/>
        </p:spPr>
        <p:txBody>
          <a:bodyPr wrap="square" lIns="0" tIns="0" rIns="0" bIns="0" rtlCol="0" anchor="ctr"/>
          <a:lstStyle/>
          <a:p>
            <a:r>
              <a:rPr lang="en-US" sz="1400" dirty="0">
                <a:solidFill>
                  <a:schemeClr val="bg2"/>
                </a:solidFill>
              </a:rPr>
              <a:t>Achieved multiple real-time lighting and shading modes controlled directly through hardware pins, enabling fully autonomous operation without CPU or software intervention. </a:t>
            </a:r>
          </a:p>
        </p:txBody>
      </p:sp>
      <p:sp>
        <p:nvSpPr>
          <p:cNvPr id="9" name="Text 7"/>
          <p:cNvSpPr/>
          <p:nvPr/>
        </p:nvSpPr>
        <p:spPr>
          <a:xfrm>
            <a:off x="457200" y="2834640"/>
            <a:ext cx="457200" cy="6400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0" name="Text 8"/>
          <p:cNvSpPr/>
          <p:nvPr/>
        </p:nvSpPr>
        <p:spPr>
          <a:xfrm>
            <a:off x="1005840" y="2880360"/>
            <a:ext cx="7589520" cy="640080"/>
          </a:xfrm>
          <a:prstGeom prst="rect">
            <a:avLst/>
          </a:prstGeom>
          <a:noFill/>
          <a:ln/>
        </p:spPr>
        <p:txBody>
          <a:bodyPr wrap="square" lIns="0" tIns="0" rIns="0" bIns="0" rtlCol="0" anchor="ctr"/>
          <a:lstStyle/>
          <a:p>
            <a:r>
              <a:rPr lang="en-US" sz="1400" dirty="0">
                <a:solidFill>
                  <a:schemeClr val="bg2"/>
                </a:solidFill>
              </a:rPr>
              <a:t>Demonstrated distance-field and lighting computations entirely with integer arithmetic, showing the feasibility of compact ASIC-based procedural graphics hardware. </a:t>
            </a:r>
          </a:p>
        </p:txBody>
      </p:sp>
      <p:sp>
        <p:nvSpPr>
          <p:cNvPr id="11" name="Text 9"/>
          <p:cNvSpPr/>
          <p:nvPr/>
        </p:nvSpPr>
        <p:spPr>
          <a:xfrm>
            <a:off x="457200" y="3657600"/>
            <a:ext cx="457200" cy="64008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2" name="Text 10"/>
          <p:cNvSpPr/>
          <p:nvPr/>
        </p:nvSpPr>
        <p:spPr>
          <a:xfrm>
            <a:off x="1005840" y="3703320"/>
            <a:ext cx="7589520" cy="640080"/>
          </a:xfrm>
          <a:prstGeom prst="rect">
            <a:avLst/>
          </a:prstGeom>
          <a:noFill/>
          <a:ln/>
        </p:spPr>
        <p:txBody>
          <a:bodyPr wrap="square" lIns="0" tIns="0" rIns="0" bIns="0" rtlCol="0" anchor="ctr"/>
          <a:lstStyle/>
          <a:p>
            <a:r>
              <a:rPr lang="en-US" sz="1400" dirty="0">
                <a:solidFill>
                  <a:schemeClr val="bg2"/>
                </a:solidFill>
              </a:rPr>
              <a:t>Mimics selected GPU fragment-stage behaviors such as per-pixel lighting and procedural shading, while not implementing full geometric rasterization or a complete graphics pipeline</a:t>
            </a:r>
          </a:p>
        </p:txBody>
      </p:sp>
      <p:pic>
        <p:nvPicPr>
          <p:cNvPr id="13" name="Picture 12">
            <a:extLst>
              <a:ext uri="{FF2B5EF4-FFF2-40B4-BE49-F238E27FC236}">
                <a16:creationId xmlns:a16="http://schemas.microsoft.com/office/drawing/2014/main" id="{69EA6328-5827-C190-9EE3-022655A6C0BB}"/>
              </a:ext>
            </a:extLst>
          </p:cNvPr>
          <p:cNvPicPr>
            <a:picLocks noChangeAspect="1"/>
          </p:cNvPicPr>
          <p:nvPr/>
        </p:nvPicPr>
        <p:blipFill>
          <a:blip r:embed="rId3">
            <a:alphaModFix amt="17000"/>
            <a:extLst>
              <a:ext uri="{BEBA8EAE-BF5A-486C-A8C5-ECC9F3942E4B}">
                <a14:imgProps xmlns:a14="http://schemas.microsoft.com/office/drawing/2010/main">
                  <a14:imgLayer r:embed="rId4">
                    <a14:imgEffect>
                      <a14:sharpenSoften amount="-1000"/>
                    </a14:imgEffect>
                  </a14:imgLayer>
                </a14:imgProps>
              </a:ext>
            </a:extLst>
          </a:blip>
          <a:stretch>
            <a:fillRect/>
          </a:stretch>
        </p:blipFill>
        <p:spPr>
          <a:xfrm>
            <a:off x="0" y="1"/>
            <a:ext cx="9144000" cy="5143500"/>
          </a:xfrm>
          <a:prstGeom prst="rect">
            <a:avLst/>
          </a:prstGeom>
          <a:effectLst>
            <a:reflection endPos="0" dist="50800" dir="5400000" sy="-100000" algn="bl" rotWithShape="0"/>
          </a:effectLst>
        </p:spPr>
      </p:pic>
      <p:sp>
        <p:nvSpPr>
          <p:cNvPr id="14" name="Text 0">
            <a:extLst>
              <a:ext uri="{FF2B5EF4-FFF2-40B4-BE49-F238E27FC236}">
                <a16:creationId xmlns:a16="http://schemas.microsoft.com/office/drawing/2014/main" id="{F9C9A925-A4B0-E1E6-466B-46335721AFB4}"/>
              </a:ext>
            </a:extLst>
          </p:cNvPr>
          <p:cNvSpPr/>
          <p:nvPr/>
        </p:nvSpPr>
        <p:spPr>
          <a:xfrm>
            <a:off x="365760" y="274320"/>
            <a:ext cx="8412480" cy="548640"/>
          </a:xfrm>
          <a:prstGeom prst="rect">
            <a:avLst/>
          </a:prstGeom>
          <a:noFill/>
          <a:ln/>
        </p:spPr>
        <p:txBody>
          <a:bodyPr wrap="square" lIns="0" tIns="0" rIns="0" bIns="0" rtlCol="0" anchor="ctr"/>
          <a:lstStyle/>
          <a:p>
            <a:pPr marL="0" indent="0">
              <a:buNone/>
            </a:pPr>
            <a:r>
              <a:rPr lang="en-US" sz="3600" b="1" dirty="0">
                <a:solidFill>
                  <a:srgbClr val="FFFFFF"/>
                </a:solidFill>
                <a:latin typeface="Calibri" pitchFamily="34" charset="0"/>
                <a:ea typeface="Calibri" pitchFamily="34" charset="-122"/>
                <a:cs typeface="Calibri" pitchFamily="34" charset="-120"/>
              </a:rPr>
              <a:t>Conclusions</a:t>
            </a:r>
            <a:endParaRPr lang="en-US" sz="3600" dirty="0"/>
          </a:p>
        </p:txBody>
      </p:sp>
      <p:sp>
        <p:nvSpPr>
          <p:cNvPr id="900" name="Header_9"/>
          <p:cNvSpPr txBox="1"/>
          <p:nvPr/>
        </p:nvSpPr>
        <p:spPr>
          <a:xfrm>
            <a:off x="3200400" y="76200"/>
            <a:ext cx="5715600" cy="304800"/>
          </a:xfrm>
          <a:prstGeom prst="rect">
            <a:avLst/>
          </a:prstGeom>
          <a:noFill/>
        </p:spPr>
        <p:txBody>
          <a:bodyPr wrap="square" lIns="0" tIns="0" rIns="0" bIns="0" rtlCol="0" anchor="ctr"/>
          <a:lstStyle/>
          <a:p>
            <a:pPr marL="0" indent="0" algn="r">
              <a:buNone/>
            </a:pPr>
            <a:r>
              <a:rPr lang="en-US" sz="900" dirty="0">
                <a:solidFill>
                  <a:srgbClr val="888888"/>
                </a:solidFill>
                <a:latin typeface="Calibri" pitchFamily="34" charset="0"/>
              </a:rPr>
              <a:t>Scan-Based Procedural Fragment Shader ASIC</a:t>
            </a:r>
            <a:endParaRPr lang="en-US" sz="900" dirty="0"/>
          </a:p>
        </p:txBody>
      </p:sp>
      <p:sp>
        <p:nvSpPr>
          <p:cNvPr id="901" name="SlideNum_9"/>
          <p:cNvSpPr txBox="1"/>
          <p:nvPr/>
        </p:nvSpPr>
        <p:spPr>
          <a:xfrm>
            <a:off x="228600" y="76200"/>
            <a:ext cx="914400" cy="304800"/>
          </a:xfrm>
          <a:prstGeom prst="rect">
            <a:avLst/>
          </a:prstGeom>
          <a:noFill/>
        </p:spPr>
        <p:txBody>
          <a:bodyPr wrap="square" lIns="0" tIns="0" rIns="0" bIns="0" rtlCol="0" anchor="ctr"/>
          <a:lstStyle/>
          <a:p>
            <a:pPr marL="0" indent="0" algn="l">
              <a:buNone/>
            </a:pPr>
            <a:r>
              <a:rPr lang="en-US" sz="900" dirty="0">
                <a:solidFill>
                  <a:srgbClr val="888888"/>
                </a:solidFill>
                <a:latin typeface="Calibri" pitchFamily="34" charset="0"/>
              </a:rPr>
              <a:t>9 / 10</a:t>
            </a:r>
            <a:endParaRPr lang="en-US" sz="900" dirty="0"/>
          </a:p>
        </p:txBody>
      </p:sp>
      <p:sp>
        <p:nvSpPr>
          <p:cNvPr id="950" name="TitleBar_9"/>
          <p:cNvSpPr/>
          <p:nvPr/>
        </p:nvSpPr>
        <p:spPr>
          <a:xfrm>
            <a:off x="365760" y="853715"/>
            <a:ext cx="822960" cy="54864"/>
          </a:xfrm>
          <a:prstGeom prst="rect">
            <a:avLst/>
          </a:prstGeom>
          <a:solidFill>
            <a:srgbClr val="00C8FF"/>
          </a:solidFill>
          <a:ln w="12700">
            <a:solidFill>
              <a:srgbClr val="00C8FF"/>
            </a:solidFill>
            <a:prstDash val="solid"/>
          </a:ln>
        </p:spPr>
        <p:txBody>
          <a:bodyPr/>
          <a:lstStyle/>
          <a:p>
            <a:endParaRPr lang="en-US"/>
          </a:p>
        </p:txBody>
      </p:sp>
      <p:cxnSp>
        <p:nvCxnSpPr>
          <p:cNvPr id="3" name="Straight Connector 2">
            <a:extLst>
              <a:ext uri="{FF2B5EF4-FFF2-40B4-BE49-F238E27FC236}">
                <a16:creationId xmlns:a16="http://schemas.microsoft.com/office/drawing/2014/main" id="{FD1AE891-E5B7-4128-874F-B50857B9EAF1}"/>
              </a:ext>
            </a:extLst>
          </p:cNvPr>
          <p:cNvCxnSpPr/>
          <p:nvPr/>
        </p:nvCxnSpPr>
        <p:spPr>
          <a:xfrm>
            <a:off x="0" y="-20781"/>
            <a:ext cx="9260840" cy="13874"/>
          </a:xfrm>
          <a:prstGeom prst="line">
            <a:avLst/>
          </a:prstGeom>
          <a:ln w="76200">
            <a:solidFill>
              <a:srgbClr val="7B61F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a:extLst>
            <a:ext uri="{FF2B5EF4-FFF2-40B4-BE49-F238E27FC236}">
              <a16:creationId xmlns:a16="http://schemas.microsoft.com/office/drawing/2014/main" id="{A5D77870-5748-37AA-6271-AF0D27DB1DBA}"/>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7AD0C612-03F7-071C-7C44-8BC40E9E03F9}"/>
              </a:ext>
            </a:extLst>
          </p:cNvPr>
          <p:cNvPicPr>
            <a:picLocks noChangeAspect="1"/>
          </p:cNvPicPr>
          <p:nvPr/>
        </p:nvPicPr>
        <p:blipFill>
          <a:blip r:embed="rId3">
            <a:alphaModFix amt="17000"/>
          </a:blip>
          <a:stretch>
            <a:fillRect/>
          </a:stretch>
        </p:blipFill>
        <p:spPr>
          <a:xfrm>
            <a:off x="0" y="-33596"/>
            <a:ext cx="9144000" cy="5186902"/>
          </a:xfrm>
          <a:prstGeom prst="rect">
            <a:avLst/>
          </a:prstGeom>
          <a:solidFill>
            <a:schemeClr val="tx1">
              <a:lumMod val="85000"/>
              <a:lumOff val="15000"/>
            </a:schemeClr>
          </a:solidFill>
          <a:effectLst>
            <a:reflection endPos="0" dist="50800" dir="5400000" sy="-100000" algn="bl" rotWithShape="0"/>
          </a:effectLst>
        </p:spPr>
      </p:pic>
      <p:cxnSp>
        <p:nvCxnSpPr>
          <p:cNvPr id="12" name="Straight Connector 11">
            <a:extLst>
              <a:ext uri="{FF2B5EF4-FFF2-40B4-BE49-F238E27FC236}">
                <a16:creationId xmlns:a16="http://schemas.microsoft.com/office/drawing/2014/main" id="{B68BA564-57E6-94D3-634B-F2EAABA86726}"/>
              </a:ext>
            </a:extLst>
          </p:cNvPr>
          <p:cNvCxnSpPr/>
          <p:nvPr/>
        </p:nvCxnSpPr>
        <p:spPr>
          <a:xfrm>
            <a:off x="0" y="-6927"/>
            <a:ext cx="9260840" cy="13874"/>
          </a:xfrm>
          <a:prstGeom prst="line">
            <a:avLst/>
          </a:prstGeom>
          <a:ln w="76200">
            <a:solidFill>
              <a:srgbClr val="7B61FF"/>
            </a:solidFill>
          </a:ln>
        </p:spPr>
        <p:style>
          <a:lnRef idx="1">
            <a:schemeClr val="accent1"/>
          </a:lnRef>
          <a:fillRef idx="0">
            <a:schemeClr val="accent1"/>
          </a:fillRef>
          <a:effectRef idx="0">
            <a:schemeClr val="accent1"/>
          </a:effectRef>
          <a:fontRef idx="minor">
            <a:schemeClr val="tx1"/>
          </a:fontRef>
        </p:style>
      </p:cxnSp>
      <p:sp>
        <p:nvSpPr>
          <p:cNvPr id="21" name="Text 0">
            <a:extLst>
              <a:ext uri="{FF2B5EF4-FFF2-40B4-BE49-F238E27FC236}">
                <a16:creationId xmlns:a16="http://schemas.microsoft.com/office/drawing/2014/main" id="{0EF75290-C315-7F25-38FF-DCFF1DD3B1DF}"/>
              </a:ext>
            </a:extLst>
          </p:cNvPr>
          <p:cNvSpPr/>
          <p:nvPr/>
        </p:nvSpPr>
        <p:spPr>
          <a:xfrm>
            <a:off x="365759" y="2298479"/>
            <a:ext cx="8412480" cy="522751"/>
          </a:xfrm>
          <a:prstGeom prst="rect">
            <a:avLst/>
          </a:prstGeom>
          <a:noFill/>
          <a:ln/>
        </p:spPr>
        <p:txBody>
          <a:bodyPr wrap="square" lIns="0" tIns="0" rIns="0" bIns="0"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Thank You!</a:t>
            </a:r>
            <a:endParaRPr lang="en-US" sz="3600" dirty="0"/>
          </a:p>
        </p:txBody>
      </p:sp>
      <p:sp>
        <p:nvSpPr>
          <p:cNvPr id="22" name="Shape 1">
            <a:extLst>
              <a:ext uri="{FF2B5EF4-FFF2-40B4-BE49-F238E27FC236}">
                <a16:creationId xmlns:a16="http://schemas.microsoft.com/office/drawing/2014/main" id="{938E7CA7-B30C-5303-2C35-84FC381C0F3E}"/>
              </a:ext>
            </a:extLst>
          </p:cNvPr>
          <p:cNvSpPr/>
          <p:nvPr/>
        </p:nvSpPr>
        <p:spPr>
          <a:xfrm>
            <a:off x="3353434" y="2826818"/>
            <a:ext cx="2553971" cy="45719"/>
          </a:xfrm>
          <a:prstGeom prst="rect">
            <a:avLst/>
          </a:prstGeom>
          <a:solidFill>
            <a:srgbClr val="00C8FF"/>
          </a:solidFill>
          <a:ln w="12700">
            <a:solidFill>
              <a:srgbClr val="00C8FF"/>
            </a:solidFill>
            <a:prstDash val="solid"/>
          </a:ln>
        </p:spPr>
        <p:txBody>
          <a:bodyPr/>
          <a:lstStyle/>
          <a:p>
            <a:endParaRPr lang="en-US"/>
          </a:p>
        </p:txBody>
      </p:sp>
      <p:sp>
        <p:nvSpPr>
          <p:cNvPr id="5" name="TextBox 4">
            <a:extLst>
              <a:ext uri="{FF2B5EF4-FFF2-40B4-BE49-F238E27FC236}">
                <a16:creationId xmlns:a16="http://schemas.microsoft.com/office/drawing/2014/main" id="{BCFD8A86-61ED-B43C-1C8E-E9703EF7413C}"/>
              </a:ext>
            </a:extLst>
          </p:cNvPr>
          <p:cNvSpPr txBox="1"/>
          <p:nvPr/>
        </p:nvSpPr>
        <p:spPr>
          <a:xfrm>
            <a:off x="3289438" y="2875298"/>
            <a:ext cx="1864001" cy="369332"/>
          </a:xfrm>
          <a:prstGeom prst="rect">
            <a:avLst/>
          </a:prstGeom>
          <a:noFill/>
        </p:spPr>
        <p:txBody>
          <a:bodyPr wrap="square">
            <a:spAutoFit/>
          </a:bodyPr>
          <a:lstStyle/>
          <a:p>
            <a:pPr marL="0" indent="0" algn="l">
              <a:buNone/>
            </a:pPr>
            <a:r>
              <a:rPr lang="en-US" sz="1800" dirty="0">
                <a:solidFill>
                  <a:srgbClr val="CCCCCC"/>
                </a:solidFill>
                <a:latin typeface="Calibri" pitchFamily="34" charset="0"/>
                <a:ea typeface="Calibri" pitchFamily="34" charset="-122"/>
                <a:cs typeface="Calibri" pitchFamily="34" charset="-120"/>
              </a:rPr>
              <a:t>Any Questions?</a:t>
            </a:r>
            <a:endParaRPr lang="en-US" sz="1800" dirty="0"/>
          </a:p>
        </p:txBody>
      </p:sp>
      <p:sp>
        <p:nvSpPr>
          <p:cNvPr id="900" name="Header_10"/>
          <p:cNvSpPr txBox="1"/>
          <p:nvPr/>
        </p:nvSpPr>
        <p:spPr>
          <a:xfrm>
            <a:off x="3200400" y="76200"/>
            <a:ext cx="5715600" cy="304800"/>
          </a:xfrm>
          <a:prstGeom prst="rect">
            <a:avLst/>
          </a:prstGeom>
          <a:noFill/>
        </p:spPr>
        <p:txBody>
          <a:bodyPr wrap="square" lIns="0" tIns="0" rIns="0" bIns="0" rtlCol="0" anchor="ctr"/>
          <a:lstStyle/>
          <a:p>
            <a:pPr marL="0" indent="0" algn="r">
              <a:buNone/>
            </a:pPr>
            <a:r>
              <a:rPr lang="en-US" sz="900" dirty="0">
                <a:solidFill>
                  <a:srgbClr val="888888"/>
                </a:solidFill>
                <a:latin typeface="Calibri" pitchFamily="34" charset="0"/>
              </a:rPr>
              <a:t>Scan-Based Procedural Fragment Shader ASIC</a:t>
            </a:r>
            <a:endParaRPr lang="en-US" sz="900" dirty="0"/>
          </a:p>
        </p:txBody>
      </p:sp>
      <p:sp>
        <p:nvSpPr>
          <p:cNvPr id="901" name="SlideNum_10"/>
          <p:cNvSpPr txBox="1"/>
          <p:nvPr/>
        </p:nvSpPr>
        <p:spPr>
          <a:xfrm>
            <a:off x="228600" y="76200"/>
            <a:ext cx="914400" cy="304800"/>
          </a:xfrm>
          <a:prstGeom prst="rect">
            <a:avLst/>
          </a:prstGeom>
          <a:noFill/>
        </p:spPr>
        <p:txBody>
          <a:bodyPr wrap="square" lIns="0" tIns="0" rIns="0" bIns="0" rtlCol="0" anchor="ctr"/>
          <a:lstStyle/>
          <a:p>
            <a:pPr marL="0" indent="0" algn="l">
              <a:buNone/>
            </a:pPr>
            <a:r>
              <a:rPr lang="en-US" sz="900" dirty="0">
                <a:solidFill>
                  <a:srgbClr val="888888"/>
                </a:solidFill>
                <a:latin typeface="Calibri" pitchFamily="34" charset="0"/>
              </a:rPr>
              <a:t>10 / 10</a:t>
            </a:r>
            <a:endParaRPr lang="en-US" sz="900" dirty="0"/>
          </a:p>
        </p:txBody>
      </p:sp>
      <p:sp>
        <p:nvSpPr>
          <p:cNvPr id="902" name="GitHub_Link"/>
          <p:cNvSpPr txBox="1"/>
          <p:nvPr/>
        </p:nvSpPr>
        <p:spPr>
          <a:xfrm>
            <a:off x="2743200" y="3200400"/>
            <a:ext cx="3657600" cy="369332"/>
          </a:xfrm>
          <a:prstGeom prst="rect">
            <a:avLst/>
          </a:prstGeom>
          <a:noFill/>
        </p:spPr>
        <p:txBody>
          <a:bodyPr wrap="square" lIns="0" tIns="0" rIns="0" bIns="0" rtlCol="0" anchor="ctr"/>
          <a:lstStyle/>
          <a:p>
            <a:pPr marL="0" indent="0" algn="ctr">
              <a:buNone/>
            </a:pPr>
            <a:r>
              <a:rPr lang="en-US" sz="1100" dirty="0">
                <a:solidFill>
                  <a:srgbClr val="00C8FF"/>
                </a:solidFill>
                <a:latin typeface="Calibri" pitchFamily="34" charset="0"/>
              </a:rPr>
              <a:t>💻 github: https://connerdaehler-boop/</a:t>
            </a:r>
            <a:endParaRPr lang="en-US" sz="1100" dirty="0"/>
          </a:p>
        </p:txBody>
      </p:sp>
    </p:spTree>
    <p:extLst>
      <p:ext uri="{BB962C8B-B14F-4D97-AF65-F5344CB8AC3E}">
        <p14:creationId xmlns:p14="http://schemas.microsoft.com/office/powerpoint/2010/main" val="4040962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339</TotalTime>
  <Words>1151</Words>
  <Application>Microsoft Office PowerPoint</Application>
  <PresentationFormat>On-screen Show (16:9)</PresentationFormat>
  <Paragraphs>100</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ADLaM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Procedural ASIC</dc:title>
  <dc:subject>PptxGenJS Presentation</dc:subject>
  <dc:creator>Conner Daehler</dc:creator>
  <cp:lastModifiedBy>Conner Daehler</cp:lastModifiedBy>
  <cp:revision>13</cp:revision>
  <dcterms:created xsi:type="dcterms:W3CDTF">2026-05-12T00:33:35Z</dcterms:created>
  <dcterms:modified xsi:type="dcterms:W3CDTF">2026-05-13T15:54:51Z</dcterms:modified>
</cp:coreProperties>
</file>